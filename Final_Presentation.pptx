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question. A deep model calls NBA games at 63% from nothing but pre-game box-score averages. Whether that's good depends entirely on the benchmark. The benchmark is Las Vegas, which sits at 66-68%. So the whole talk is: can we hang with Vegas?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number 63% means nothing in isolation. Against a coin flip it's modest; against the sharpest markets on earth it's remarkable. We measure it against Vegas, the practical ceiling. The gap is only a few points, and the rest of the talk explains why that gap exists and why it closes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frame the difficulty. The floor is 54.4% — always pick home. The ceiling is Vegas at ~67%. And any single game carries huge irreducible randomness. The model has to find real signal between floor and ceiling without manufacturing fake signal from the future, which is the leakage trap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the unglamorous part that makes everything valid. Pull ten seasons from the NBA API, reshape to one row per game, engineer rolling last-5 and last-10 form with a one-game shift so a game never sees itself, then split by season — train on the past, test on the future. 11,876 games, 64 features, a compact 13.5k-parameter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The first model scored 87-88% and I almost celebrated. Instead I asked what was too good. Two features were leaking: cumulative season win percentage, basically the final standings, and a head-to-head rate computed without respecting time, correlating 0.83 with the outcome. Rebuilding both to be time-safe dropped the score to an honest 62.9%. The transferable lesson: on temporal data, suspiciously high accuracy is a red flag, not a trophy.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Wide &amp; Deep, from the Google recommender paper. The wide branch is linear and memorizes direct signals like form differentials. The deep branch — 96 to 48 to 24 with batch norm and heavy dropout — learns interactions like rest combined with opponent strength. They fuse into one probability. It's deliberately small, 13.5k parameters, with aggressive regularization, because the job is to reach the ceiling, not overfit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against the two reference lines. Test accuracy 62.9%, ROC-AUC 0.676. Train is 62.8% — within a tenth of a point of test, so no overfitting. Every split clears the 54% floor and sits right at the 63% ceiling, about four points under the Vegas line. That four-point gap is exactly the injury and lineup information Vegas has and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Stability check. Each point is one season's accuracy, shaded by split. The held-out test seasons on the right sit right alongside the training seasons on the left — no cliff at the boundary. The one soft spot is 2022-23 validation at 58%, a genuinely noisy season, but the trend is flat around the ceiling. That's generalization, not memorization.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per-game accuracy, do the team-level projections make sense? Each dot is a team-season: actual win percentage on the x-axis, predicted on the y. Points hug the diagonal in all three splits, with correlations above 0.91 — and crucially 0.92 on the held-out test seasons. The model isn't just barely beating a coin flip; its team rankings are well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 curves confirm the model ranks games far better than chance. All three curves bow well above the diagonal. Test AUC is 0.676, actually the strongest split, with train at 0.663 right beside it. Validation is a touch lower at 0.620, dragged by that noisy 2022-23 season. The pattern is consistent: real, bounded predictive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call 63% the ceiling rather than a disappointment? Three reasons. One: pushing the model harder didn't help — that's the data's signal limit. Two: a high score would be a red flag, because honest features cap near the market. Three: train and test agree within a tenth of a point, so it genuinely generalizes. 63% isn't where we stopped trying; it's where the honest signal runs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answer is a qualified yes. 62.9% on unseen seasons, a few points under Vegas, and that gap is exactly the information we chose not to use. But the real contribution isn't the number — it's the discipline of finding and removing leakage. An honest 63% that survives deployment beats a brittle 90% that doesn't. Next steps: sequence models, injury and lineup data, and benchmarking calibrated probabilities against closing betting lines.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726"/>
        </a:solidFill>
      </p:bgPr>
    </p:bg>
    <p:spTree>
      <p:nvGrpSpPr>
        <p:cNvPr id="1" name=""/>
        <p:cNvGrpSpPr/>
        <p:nvPr/>
      </p:nvGrpSpPr>
      <p:grpSpPr>
        <a:xfrm>
          <a:off x="0" y="0"/>
          <a:ext cx="0" cy="0"/>
          <a:chOff x="0" y="0"/>
          <a:chExt cx="0" cy="0"/>
        </a:xfrm>
      </p:grpSpPr>
      <p:sp>
        <p:nvSpPr>
          <p:cNvPr id="2" name="Shape 0"/>
          <p:cNvSpPr/>
          <p:nvPr/>
        </p:nvSpPr>
        <p:spPr>
          <a:xfrm>
            <a:off x="8869680" y="-1280160"/>
            <a:ext cx="4754880" cy="4754880"/>
          </a:xfrm>
          <a:prstGeom prst="ellipse">
            <a:avLst/>
          </a:prstGeom>
          <a:ln w="25400">
            <a:solidFill>
              <a:srgbClr val="23405F"/>
            </a:solidFill>
            <a:prstDash val="solid"/>
          </a:ln>
        </p:spPr>
      </p:sp>
      <p:sp>
        <p:nvSpPr>
          <p:cNvPr id="3" name="Shape 1"/>
          <p:cNvSpPr/>
          <p:nvPr/>
        </p:nvSpPr>
        <p:spPr>
          <a:xfrm>
            <a:off x="10241280" y="4297680"/>
            <a:ext cx="3291840" cy="3291840"/>
          </a:xfrm>
          <a:prstGeom prst="ellipse">
            <a:avLst/>
          </a:prstGeom>
          <a:ln w="25400">
            <a:solidFill>
              <a:srgbClr val="1C3350"/>
            </a:solidFill>
            <a:prstDash val="solid"/>
          </a:ln>
        </p:spPr>
      </p:sp>
      <p:sp>
        <p:nvSpPr>
          <p:cNvPr id="4" name="Text 2"/>
          <p:cNvSpPr/>
          <p:nvPr/>
        </p:nvSpPr>
        <p:spPr>
          <a:xfrm>
            <a:off x="731520" y="1051560"/>
            <a:ext cx="10058400" cy="320040"/>
          </a:xfrm>
          <a:prstGeom prst="rect">
            <a:avLst/>
          </a:prstGeom>
          <a:noFill/>
          <a:ln/>
        </p:spPr>
        <p:txBody>
          <a:bodyPr wrap="square" lIns="0" tIns="0" rIns="0" bIns="0" rtlCol="0" anchor="ctr"/>
          <a:lstStyle/>
          <a:p>
            <a:pPr indent="0" marL="0">
              <a:buNone/>
            </a:pPr>
            <a:r>
              <a:rPr lang="en-US" sz="1400" b="1" spc="300" kern="0" dirty="0">
                <a:solidFill>
                  <a:srgbClr val="F26A2B"/>
                </a:solidFill>
                <a:latin typeface="Calibri" pitchFamily="34" charset="0"/>
                <a:ea typeface="Calibri" pitchFamily="34" charset="-122"/>
                <a:cs typeface="Calibri" pitchFamily="34" charset="-120"/>
              </a:rPr>
              <a:t>NBA GAME PREDICTION · WIDE &amp; DEEP NEURAL NET</a:t>
            </a:r>
            <a:endParaRPr lang="en-US" sz="1400" dirty="0"/>
          </a:p>
        </p:txBody>
      </p:sp>
      <p:sp>
        <p:nvSpPr>
          <p:cNvPr id="5" name="Text 3"/>
          <p:cNvSpPr/>
          <p:nvPr/>
        </p:nvSpPr>
        <p:spPr>
          <a:xfrm>
            <a:off x="713232" y="1554480"/>
            <a:ext cx="10515600" cy="2194560"/>
          </a:xfrm>
          <a:prstGeom prst="rect">
            <a:avLst/>
          </a:prstGeom>
          <a:noFill/>
          <a:ln/>
        </p:spPr>
        <p:txBody>
          <a:bodyPr wrap="square" lIns="0" tIns="0" rIns="0" bIns="0" rtlCol="0" anchor="ctr"/>
          <a:lstStyle/>
          <a:p>
            <a:pPr indent="0" marL="0">
              <a:lnSpc>
                <a:spcPct val="95000"/>
              </a:lnSpc>
              <a:buNone/>
            </a:pPr>
            <a:r>
              <a:rPr lang="en-US" sz="6200" b="1" dirty="0">
                <a:solidFill>
                  <a:srgbClr val="F4F1EA"/>
                </a:solidFill>
                <a:latin typeface="Arial" pitchFamily="34" charset="0"/>
                <a:ea typeface="Arial" pitchFamily="34" charset="-122"/>
                <a:cs typeface="Arial" pitchFamily="34" charset="-120"/>
              </a:rPr>
              <a:t>Can a model</a:t>
            </a:r>
            <a:endParaRPr lang="en-US" sz="6200" dirty="0"/>
          </a:p>
          <a:p>
            <a:pPr indent="0" marL="0">
              <a:lnSpc>
                <a:spcPct val="95000"/>
              </a:lnSpc>
              <a:buNone/>
            </a:pPr>
            <a:r>
              <a:rPr lang="en-US" sz="6200" b="1" dirty="0">
                <a:solidFill>
                  <a:srgbClr val="F26A2B"/>
                </a:solidFill>
                <a:latin typeface="Arial" pitchFamily="34" charset="0"/>
                <a:ea typeface="Arial" pitchFamily="34" charset="-122"/>
                <a:cs typeface="Arial" pitchFamily="34" charset="-120"/>
              </a:rPr>
              <a:t>hang with Vegas?</a:t>
            </a:r>
            <a:endParaRPr lang="en-US" sz="6200" dirty="0"/>
          </a:p>
        </p:txBody>
      </p:sp>
      <p:sp>
        <p:nvSpPr>
          <p:cNvPr id="6" name="Text 4"/>
          <p:cNvSpPr/>
          <p:nvPr/>
        </p:nvSpPr>
        <p:spPr>
          <a:xfrm>
            <a:off x="731520" y="3794760"/>
            <a:ext cx="7498080" cy="914400"/>
          </a:xfrm>
          <a:prstGeom prst="rect">
            <a:avLst/>
          </a:prstGeom>
          <a:noFill/>
          <a:ln/>
        </p:spPr>
        <p:txBody>
          <a:bodyPr wrap="square" lIns="0" tIns="0" rIns="0" bIns="0" rtlCol="0" anchor="ctr"/>
          <a:lstStyle/>
          <a:p>
            <a:pPr indent="0" marL="0">
              <a:lnSpc>
                <a:spcPct val="105000"/>
              </a:lnSpc>
              <a:buNone/>
            </a:pPr>
            <a:r>
              <a:rPr lang="en-US" sz="1700" dirty="0">
                <a:solidFill>
                  <a:srgbClr val="C7D0DD"/>
                </a:solidFill>
                <a:latin typeface="Calibri" pitchFamily="34" charset="0"/>
                <a:ea typeface="Calibri" pitchFamily="34" charset="-122"/>
                <a:cs typeface="Calibri" pitchFamily="34" charset="-120"/>
              </a:rPr>
              <a:t>A leakage-free Wide &amp; Deep network predicts NBA games from pre-tip-off box-score form — and lands within a few points of the sharpest betting markets on earth.</a:t>
            </a:r>
            <a:endParaRPr lang="en-US" sz="1700" dirty="0"/>
          </a:p>
        </p:txBody>
      </p:sp>
      <p:sp>
        <p:nvSpPr>
          <p:cNvPr id="7" name="Text 5"/>
          <p:cNvSpPr/>
          <p:nvPr/>
        </p:nvSpPr>
        <p:spPr>
          <a:xfrm>
            <a:off x="731520" y="4892040"/>
            <a:ext cx="2011680" cy="914400"/>
          </a:xfrm>
          <a:prstGeom prst="rect">
            <a:avLst/>
          </a:prstGeom>
          <a:noFill/>
          <a:ln/>
        </p:spPr>
        <p:txBody>
          <a:bodyPr wrap="square" lIns="0" tIns="0" rIns="0" bIns="0" rtlCol="0" anchor="ctr"/>
          <a:lstStyle/>
          <a:p>
            <a:pPr indent="0" marL="0">
              <a:buNone/>
            </a:pPr>
            <a:r>
              <a:rPr lang="en-US" sz="5400" b="1" dirty="0">
                <a:solidFill>
                  <a:srgbClr val="F26A2B"/>
                </a:solidFill>
                <a:latin typeface="Arial" pitchFamily="34" charset="0"/>
                <a:ea typeface="Arial" pitchFamily="34" charset="-122"/>
                <a:cs typeface="Arial" pitchFamily="34" charset="-120"/>
              </a:rPr>
              <a:t>63%</a:t>
            </a:r>
            <a:endParaRPr lang="en-US" sz="5400" dirty="0"/>
          </a:p>
        </p:txBody>
      </p:sp>
      <p:sp>
        <p:nvSpPr>
          <p:cNvPr id="8" name="Text 6"/>
          <p:cNvSpPr/>
          <p:nvPr/>
        </p:nvSpPr>
        <p:spPr>
          <a:xfrm>
            <a:off x="777240" y="5806440"/>
            <a:ext cx="2011680" cy="274320"/>
          </a:xfrm>
          <a:prstGeom prst="rect">
            <a:avLst/>
          </a:prstGeom>
          <a:noFill/>
          <a:ln/>
        </p:spPr>
        <p:txBody>
          <a:bodyPr wrap="square" lIns="0" tIns="0" rIns="0" bIns="0" rtlCol="0" anchor="ctr"/>
          <a:lstStyle/>
          <a:p>
            <a:pPr indent="0" marL="0">
              <a:buNone/>
            </a:pPr>
            <a:r>
              <a:rPr lang="en-US" sz="1200" spc="200" kern="0" dirty="0">
                <a:solidFill>
                  <a:srgbClr val="93A1B6"/>
                </a:solidFill>
                <a:latin typeface="Calibri" pitchFamily="34" charset="0"/>
                <a:ea typeface="Calibri" pitchFamily="34" charset="-122"/>
                <a:cs typeface="Calibri" pitchFamily="34" charset="-120"/>
              </a:rPr>
              <a:t>THIS MODEL</a:t>
            </a:r>
            <a:endParaRPr lang="en-US" sz="1200" dirty="0"/>
          </a:p>
        </p:txBody>
      </p:sp>
      <p:sp>
        <p:nvSpPr>
          <p:cNvPr id="9" name="Text 7"/>
          <p:cNvSpPr/>
          <p:nvPr/>
        </p:nvSpPr>
        <p:spPr>
          <a:xfrm>
            <a:off x="2743200" y="5120640"/>
            <a:ext cx="731520" cy="548640"/>
          </a:xfrm>
          <a:prstGeom prst="rect">
            <a:avLst/>
          </a:prstGeom>
          <a:noFill/>
          <a:ln/>
        </p:spPr>
        <p:txBody>
          <a:bodyPr wrap="square" lIns="0" tIns="0" rIns="0" bIns="0" rtlCol="0" anchor="ctr"/>
          <a:lstStyle/>
          <a:p>
            <a:pPr algn="ctr" indent="0" marL="0">
              <a:buNone/>
            </a:pPr>
            <a:r>
              <a:rPr lang="en-US" sz="2600" dirty="0">
                <a:solidFill>
                  <a:srgbClr val="93A1B6"/>
                </a:solidFill>
                <a:latin typeface="Arial" pitchFamily="34" charset="0"/>
                <a:ea typeface="Arial" pitchFamily="34" charset="-122"/>
                <a:cs typeface="Arial" pitchFamily="34" charset="-120"/>
              </a:rPr>
              <a:t>vs</a:t>
            </a:r>
            <a:endParaRPr lang="en-US" sz="2600" dirty="0"/>
          </a:p>
        </p:txBody>
      </p:sp>
      <p:sp>
        <p:nvSpPr>
          <p:cNvPr id="10" name="Text 8"/>
          <p:cNvSpPr/>
          <p:nvPr/>
        </p:nvSpPr>
        <p:spPr>
          <a:xfrm>
            <a:off x="3383280" y="4892040"/>
            <a:ext cx="2926080" cy="914400"/>
          </a:xfrm>
          <a:prstGeom prst="rect">
            <a:avLst/>
          </a:prstGeom>
          <a:noFill/>
          <a:ln/>
        </p:spPr>
        <p:txBody>
          <a:bodyPr wrap="square" lIns="0" tIns="0" rIns="0" bIns="0" rtlCol="0" anchor="ctr"/>
          <a:lstStyle/>
          <a:p>
            <a:pPr indent="0" marL="0">
              <a:buNone/>
            </a:pPr>
            <a:r>
              <a:rPr lang="en-US" sz="5400" b="1" dirty="0">
                <a:solidFill>
                  <a:srgbClr val="ECE3CF"/>
                </a:solidFill>
                <a:latin typeface="Arial" pitchFamily="34" charset="0"/>
                <a:ea typeface="Arial" pitchFamily="34" charset="-122"/>
                <a:cs typeface="Arial" pitchFamily="34" charset="-120"/>
              </a:rPr>
              <a:t>66–68%</a:t>
            </a:r>
            <a:endParaRPr lang="en-US" sz="5400" dirty="0"/>
          </a:p>
        </p:txBody>
      </p:sp>
      <p:sp>
        <p:nvSpPr>
          <p:cNvPr id="11" name="Text 9"/>
          <p:cNvSpPr/>
          <p:nvPr/>
        </p:nvSpPr>
        <p:spPr>
          <a:xfrm>
            <a:off x="3429000" y="5806440"/>
            <a:ext cx="2743200" cy="274320"/>
          </a:xfrm>
          <a:prstGeom prst="rect">
            <a:avLst/>
          </a:prstGeom>
          <a:noFill/>
          <a:ln/>
        </p:spPr>
        <p:txBody>
          <a:bodyPr wrap="square" lIns="0" tIns="0" rIns="0" bIns="0" rtlCol="0" anchor="ctr"/>
          <a:lstStyle/>
          <a:p>
            <a:pPr indent="0" marL="0">
              <a:buNone/>
            </a:pPr>
            <a:r>
              <a:rPr lang="en-US" sz="1200" spc="200" kern="0" dirty="0">
                <a:solidFill>
                  <a:srgbClr val="93A1B6"/>
                </a:solidFill>
                <a:latin typeface="Calibri" pitchFamily="34" charset="0"/>
                <a:ea typeface="Calibri" pitchFamily="34" charset="-122"/>
                <a:cs typeface="Calibri" pitchFamily="34" charset="-120"/>
              </a:rPr>
              <a:t>LAS VEGAS</a:t>
            </a:r>
            <a:endParaRPr lang="en-US" sz="1200" dirty="0"/>
          </a:p>
        </p:txBody>
      </p:sp>
      <p:sp>
        <p:nvSpPr>
          <p:cNvPr id="12" name="Text 10"/>
          <p:cNvSpPr/>
          <p:nvPr/>
        </p:nvSpPr>
        <p:spPr>
          <a:xfrm>
            <a:off x="8229600" y="5669280"/>
            <a:ext cx="3291840" cy="731520"/>
          </a:xfrm>
          <a:prstGeom prst="rect">
            <a:avLst/>
          </a:prstGeom>
          <a:noFill/>
          <a:ln/>
        </p:spPr>
        <p:txBody>
          <a:bodyPr wrap="square" lIns="0" tIns="0" rIns="0" bIns="0" rtlCol="0" anchor="ctr"/>
          <a:lstStyle/>
          <a:p>
            <a:pPr algn="r" indent="0" marL="0">
              <a:lnSpc>
                <a:spcPct val="110000"/>
              </a:lnSpc>
              <a:buNone/>
            </a:pPr>
            <a:r>
              <a:rPr lang="en-US" sz="1600" b="1" dirty="0">
                <a:solidFill>
                  <a:srgbClr val="F4F1EA"/>
                </a:solidFill>
                <a:latin typeface="Calibri" pitchFamily="34" charset="0"/>
                <a:ea typeface="Calibri" pitchFamily="34" charset="-122"/>
                <a:cs typeface="Calibri" pitchFamily="34" charset="-120"/>
              </a:rPr>
              <a:t>Eron Pano</a:t>
            </a:r>
            <a:endParaRPr lang="en-US" sz="1600" dirty="0"/>
          </a:p>
          <a:p>
            <a:pPr algn="r" indent="0" marL="0">
              <a:lnSpc>
                <a:spcPct val="110000"/>
              </a:lnSpc>
              <a:buNone/>
            </a:pPr>
            <a:r>
              <a:rPr lang="en-US" sz="1300" dirty="0">
                <a:solidFill>
                  <a:srgbClr val="93A1B6"/>
                </a:solidFill>
                <a:latin typeface="Calibri" pitchFamily="34" charset="0"/>
                <a:ea typeface="Calibri" pitchFamily="34" charset="-122"/>
                <a:cs typeface="Calibri" pitchFamily="34" charset="-120"/>
              </a:rPr>
              <a:t>MS Data Science · Regis University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01 · THE QUESTION</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Is 63% good? Depends what you stack it against.</a:t>
            </a:r>
            <a:endParaRPr lang="en-US" sz="3200" dirty="0"/>
          </a:p>
        </p:txBody>
      </p:sp>
      <p:sp>
        <p:nvSpPr>
          <p:cNvPr id="4" name="Shape 2"/>
          <p:cNvSpPr/>
          <p:nvPr/>
        </p:nvSpPr>
        <p:spPr>
          <a:xfrm>
            <a:off x="640080" y="1874520"/>
            <a:ext cx="5257800" cy="4297680"/>
          </a:xfrm>
          <a:prstGeom prst="roundRect">
            <a:avLst>
              <a:gd name="adj" fmla="val 1915"/>
            </a:avLst>
          </a:prstGeom>
          <a:solidFill>
            <a:srgbClr val="13243B"/>
          </a:solidFill>
          <a:ln/>
          <a:effectLst>
            <a:outerShdw sx="100000" sy="100000" kx="0" ky="0" algn="bl" rotWithShape="0" blurRad="114300" dist="38100" dir="5400000">
              <a:srgbClr val="000000">
                <a:alpha val="30000"/>
              </a:srgbClr>
            </a:outerShdw>
          </a:effectLst>
        </p:spPr>
      </p:sp>
      <p:sp>
        <p:nvSpPr>
          <p:cNvPr id="5" name="Text 3"/>
          <p:cNvSpPr/>
          <p:nvPr/>
        </p:nvSpPr>
        <p:spPr>
          <a:xfrm>
            <a:off x="640080" y="2377440"/>
            <a:ext cx="5257800" cy="1371600"/>
          </a:xfrm>
          <a:prstGeom prst="rect">
            <a:avLst/>
          </a:prstGeom>
          <a:noFill/>
          <a:ln/>
        </p:spPr>
        <p:txBody>
          <a:bodyPr wrap="square" lIns="0" tIns="0" rIns="0" bIns="0" rtlCol="0" anchor="ctr"/>
          <a:lstStyle/>
          <a:p>
            <a:pPr algn="ctr" indent="0" marL="0">
              <a:buNone/>
            </a:pPr>
            <a:r>
              <a:rPr lang="en-US" sz="9600" b="1" dirty="0">
                <a:solidFill>
                  <a:srgbClr val="F26A2B"/>
                </a:solidFill>
                <a:latin typeface="Arial" pitchFamily="34" charset="0"/>
                <a:ea typeface="Arial" pitchFamily="34" charset="-122"/>
                <a:cs typeface="Arial" pitchFamily="34" charset="-120"/>
              </a:rPr>
              <a:t>63%</a:t>
            </a:r>
            <a:endParaRPr lang="en-US" sz="9600" dirty="0"/>
          </a:p>
        </p:txBody>
      </p:sp>
      <p:sp>
        <p:nvSpPr>
          <p:cNvPr id="6" name="Text 4"/>
          <p:cNvSpPr/>
          <p:nvPr/>
        </p:nvSpPr>
        <p:spPr>
          <a:xfrm>
            <a:off x="822960" y="3794760"/>
            <a:ext cx="4892040" cy="365760"/>
          </a:xfrm>
          <a:prstGeom prst="rect">
            <a:avLst/>
          </a:prstGeom>
          <a:noFill/>
          <a:ln/>
        </p:spPr>
        <p:txBody>
          <a:bodyPr wrap="square" lIns="0" tIns="0" rIns="0" bIns="0" rtlCol="0" anchor="ctr"/>
          <a:lstStyle/>
          <a:p>
            <a:pPr algn="ctr" indent="0" marL="0">
              <a:buNone/>
            </a:pPr>
            <a:r>
              <a:rPr lang="en-US" sz="1500" spc="100" kern="0" dirty="0">
                <a:solidFill>
                  <a:srgbClr val="93A1B6"/>
                </a:solidFill>
                <a:latin typeface="Calibri" pitchFamily="34" charset="0"/>
                <a:ea typeface="Calibri" pitchFamily="34" charset="-122"/>
                <a:cs typeface="Calibri" pitchFamily="34" charset="-120"/>
              </a:rPr>
              <a:t>THIS MODEL — held-out test seasons</a:t>
            </a:r>
            <a:endParaRPr lang="en-US" sz="1500" dirty="0"/>
          </a:p>
        </p:txBody>
      </p:sp>
      <p:sp>
        <p:nvSpPr>
          <p:cNvPr id="7" name="Text 5"/>
          <p:cNvSpPr/>
          <p:nvPr/>
        </p:nvSpPr>
        <p:spPr>
          <a:xfrm>
            <a:off x="1005840" y="4297680"/>
            <a:ext cx="4526280" cy="1463040"/>
          </a:xfrm>
          <a:prstGeom prst="rect">
            <a:avLst/>
          </a:prstGeom>
          <a:noFill/>
          <a:ln/>
        </p:spPr>
        <p:txBody>
          <a:bodyPr wrap="square" lIns="0" tIns="0" rIns="0" bIns="0" rtlCol="0" anchor="ctr"/>
          <a:lstStyle/>
          <a:p>
            <a:pPr algn="ctr" indent="0" marL="0">
              <a:lnSpc>
                <a:spcPct val="110000"/>
              </a:lnSpc>
              <a:buNone/>
            </a:pPr>
            <a:r>
              <a:rPr lang="en-US" sz="1500" dirty="0">
                <a:solidFill>
                  <a:srgbClr val="C7D0DD"/>
                </a:solidFill>
                <a:latin typeface="Calibri" pitchFamily="34" charset="0"/>
                <a:ea typeface="Calibri" pitchFamily="34" charset="-122"/>
                <a:cs typeface="Calibri" pitchFamily="34" charset="-120"/>
              </a:rPr>
              <a:t>Pre-game team form only. No injuries, no lineups, no betting signal. Trained on 2015–21, judged on games it had never seen.</a:t>
            </a:r>
            <a:endParaRPr lang="en-US" sz="1500" dirty="0"/>
          </a:p>
        </p:txBody>
      </p:sp>
      <p:sp>
        <p:nvSpPr>
          <p:cNvPr id="8" name="Shape 6"/>
          <p:cNvSpPr/>
          <p:nvPr/>
        </p:nvSpPr>
        <p:spPr>
          <a:xfrm>
            <a:off x="6263640" y="1874520"/>
            <a:ext cx="5257800" cy="4297680"/>
          </a:xfrm>
          <a:prstGeom prst="roundRect">
            <a:avLst>
              <a:gd name="adj" fmla="val 1915"/>
            </a:avLst>
          </a:prstGeom>
          <a:solidFill>
            <a:srgbClr val="13243B"/>
          </a:solidFill>
          <a:ln/>
          <a:effectLst>
            <a:outerShdw sx="100000" sy="100000" kx="0" ky="0" algn="bl" rotWithShape="0" blurRad="114300" dist="38100" dir="5400000">
              <a:srgbClr val="000000">
                <a:alpha val="30000"/>
              </a:srgbClr>
            </a:outerShdw>
          </a:effectLst>
        </p:spPr>
      </p:sp>
      <p:sp>
        <p:nvSpPr>
          <p:cNvPr id="9" name="Text 7"/>
          <p:cNvSpPr/>
          <p:nvPr/>
        </p:nvSpPr>
        <p:spPr>
          <a:xfrm>
            <a:off x="6263640" y="2377440"/>
            <a:ext cx="5257800" cy="1371600"/>
          </a:xfrm>
          <a:prstGeom prst="rect">
            <a:avLst/>
          </a:prstGeom>
          <a:noFill/>
          <a:ln/>
        </p:spPr>
        <p:txBody>
          <a:bodyPr wrap="square" lIns="0" tIns="0" rIns="0" bIns="0" rtlCol="0" anchor="ctr"/>
          <a:lstStyle/>
          <a:p>
            <a:pPr algn="ctr" indent="0" marL="0">
              <a:buNone/>
            </a:pPr>
            <a:r>
              <a:rPr lang="en-US" sz="8800" b="1" dirty="0">
                <a:solidFill>
                  <a:srgbClr val="ECE3CF"/>
                </a:solidFill>
                <a:latin typeface="Arial" pitchFamily="34" charset="0"/>
                <a:ea typeface="Arial" pitchFamily="34" charset="-122"/>
                <a:cs typeface="Arial" pitchFamily="34" charset="-120"/>
              </a:rPr>
              <a:t>66–68%</a:t>
            </a:r>
            <a:endParaRPr lang="en-US" sz="8800" dirty="0"/>
          </a:p>
        </p:txBody>
      </p:sp>
      <p:sp>
        <p:nvSpPr>
          <p:cNvPr id="10" name="Text 8"/>
          <p:cNvSpPr/>
          <p:nvPr/>
        </p:nvSpPr>
        <p:spPr>
          <a:xfrm>
            <a:off x="6446520" y="3794760"/>
            <a:ext cx="4892040" cy="365760"/>
          </a:xfrm>
          <a:prstGeom prst="rect">
            <a:avLst/>
          </a:prstGeom>
          <a:noFill/>
          <a:ln/>
        </p:spPr>
        <p:txBody>
          <a:bodyPr wrap="square" lIns="0" tIns="0" rIns="0" bIns="0" rtlCol="0" anchor="ctr"/>
          <a:lstStyle/>
          <a:p>
            <a:pPr algn="ctr" indent="0" marL="0">
              <a:buNone/>
            </a:pPr>
            <a:r>
              <a:rPr lang="en-US" sz="1500" spc="100" kern="0" dirty="0">
                <a:solidFill>
                  <a:srgbClr val="93A1B6"/>
                </a:solidFill>
                <a:latin typeface="Calibri" pitchFamily="34" charset="0"/>
                <a:ea typeface="Calibri" pitchFamily="34" charset="-122"/>
                <a:cs typeface="Calibri" pitchFamily="34" charset="-120"/>
              </a:rPr>
              <a:t>LAS VEGAS — closing market line</a:t>
            </a:r>
            <a:endParaRPr lang="en-US" sz="1500" dirty="0"/>
          </a:p>
        </p:txBody>
      </p:sp>
      <p:sp>
        <p:nvSpPr>
          <p:cNvPr id="11" name="Text 9"/>
          <p:cNvSpPr/>
          <p:nvPr/>
        </p:nvSpPr>
        <p:spPr>
          <a:xfrm>
            <a:off x="6629400" y="4297680"/>
            <a:ext cx="4526280" cy="1463040"/>
          </a:xfrm>
          <a:prstGeom prst="rect">
            <a:avLst/>
          </a:prstGeom>
          <a:noFill/>
          <a:ln/>
        </p:spPr>
        <p:txBody>
          <a:bodyPr wrap="square" lIns="0" tIns="0" rIns="0" bIns="0" rtlCol="0" anchor="ctr"/>
          <a:lstStyle/>
          <a:p>
            <a:pPr algn="ctr" indent="0" marL="0">
              <a:lnSpc>
                <a:spcPct val="110000"/>
              </a:lnSpc>
              <a:buNone/>
            </a:pPr>
            <a:r>
              <a:rPr lang="en-US" sz="1500" dirty="0">
                <a:solidFill>
                  <a:srgbClr val="C7D0DD"/>
                </a:solidFill>
                <a:latin typeface="Calibri" pitchFamily="34" charset="0"/>
                <a:ea typeface="Calibri" pitchFamily="34" charset="-122"/>
                <a:cs typeface="Calibri" pitchFamily="34" charset="-120"/>
              </a:rPr>
              <a:t>Rooms full of quants, insider injury news, sharp money moving billions. The most accurate public NBA forecast that exists.</a:t>
            </a:r>
            <a:endParaRPr lang="en-US" sz="1500" dirty="0"/>
          </a:p>
        </p:txBody>
      </p:sp>
      <p:sp>
        <p:nvSpPr>
          <p:cNvPr id="12" name="Text 10"/>
          <p:cNvSpPr/>
          <p:nvPr/>
        </p:nvSpPr>
        <p:spPr>
          <a:xfrm>
            <a:off x="640080" y="6355080"/>
            <a:ext cx="10881360" cy="365760"/>
          </a:xfrm>
          <a:prstGeom prst="rect">
            <a:avLst/>
          </a:prstGeom>
          <a:noFill/>
          <a:ln/>
        </p:spPr>
        <p:txBody>
          <a:bodyPr wrap="square" lIns="0" tIns="0" rIns="0" bIns="0" rtlCol="0" anchor="ctr"/>
          <a:lstStyle/>
          <a:p>
            <a:pPr algn="ctr" indent="0" marL="0">
              <a:buNone/>
            </a:pPr>
            <a:r>
              <a:rPr lang="en-US" sz="1500" i="1" dirty="0">
                <a:solidFill>
                  <a:srgbClr val="37C2A4"/>
                </a:solidFill>
                <a:latin typeface="Calibri" pitchFamily="34" charset="0"/>
                <a:ea typeface="Calibri" pitchFamily="34" charset="-122"/>
                <a:cs typeface="Calibri" pitchFamily="34" charset="-120"/>
              </a:rPr>
              <a:t>A few points apart — that gap is the whole story.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02 · THE PROBLEM</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Single-game prediction is deceptively hard</a:t>
            </a:r>
            <a:endParaRPr lang="en-US" sz="3200" dirty="0"/>
          </a:p>
        </p:txBody>
      </p:sp>
      <p:sp>
        <p:nvSpPr>
          <p:cNvPr id="4" name="Shape 2"/>
          <p:cNvSpPr/>
          <p:nvPr/>
        </p:nvSpPr>
        <p:spPr>
          <a:xfrm>
            <a:off x="640080" y="1965960"/>
            <a:ext cx="3502152" cy="2834640"/>
          </a:xfrm>
          <a:prstGeom prst="roundRect">
            <a:avLst>
              <a:gd name="adj" fmla="val 2903"/>
            </a:avLst>
          </a:prstGeom>
          <a:solidFill>
            <a:srgbClr val="13243B"/>
          </a:solidFill>
          <a:ln/>
          <a:effectLst>
            <a:outerShdw sx="100000" sy="100000" kx="0" ky="0" algn="bl" rotWithShape="0" blurRad="114300" dist="38100" dir="5400000">
              <a:srgbClr val="000000">
                <a:alpha val="30000"/>
              </a:srgbClr>
            </a:outerShdw>
          </a:effectLst>
        </p:spPr>
      </p:sp>
      <p:sp>
        <p:nvSpPr>
          <p:cNvPr id="5" name="Text 3"/>
          <p:cNvSpPr/>
          <p:nvPr/>
        </p:nvSpPr>
        <p:spPr>
          <a:xfrm>
            <a:off x="685800" y="2286000"/>
            <a:ext cx="3383280" cy="914400"/>
          </a:xfrm>
          <a:prstGeom prst="rect">
            <a:avLst/>
          </a:prstGeom>
          <a:noFill/>
          <a:ln/>
        </p:spPr>
        <p:txBody>
          <a:bodyPr wrap="square" lIns="0" tIns="0" rIns="0" bIns="0" rtlCol="0" anchor="ctr"/>
          <a:lstStyle/>
          <a:p>
            <a:pPr algn="ctr" indent="0" marL="0">
              <a:buNone/>
            </a:pPr>
            <a:r>
              <a:rPr lang="en-US" sz="4400" b="1" dirty="0">
                <a:solidFill>
                  <a:srgbClr val="F26A2B"/>
                </a:solidFill>
                <a:latin typeface="Arial" pitchFamily="34" charset="0"/>
                <a:ea typeface="Arial" pitchFamily="34" charset="-122"/>
                <a:cs typeface="Arial" pitchFamily="34" charset="-120"/>
              </a:rPr>
              <a:t>54.4%</a:t>
            </a:r>
            <a:endParaRPr lang="en-US" sz="4400" dirty="0"/>
          </a:p>
        </p:txBody>
      </p:sp>
      <p:sp>
        <p:nvSpPr>
          <p:cNvPr id="6" name="Text 4"/>
          <p:cNvSpPr/>
          <p:nvPr/>
        </p:nvSpPr>
        <p:spPr>
          <a:xfrm>
            <a:off x="914400" y="3246120"/>
            <a:ext cx="2953512" cy="365760"/>
          </a:xfrm>
          <a:prstGeom prst="rect">
            <a:avLst/>
          </a:prstGeom>
          <a:noFill/>
          <a:ln/>
        </p:spPr>
        <p:txBody>
          <a:bodyPr wrap="square" lIns="0" tIns="0" rIns="0" bIns="0" rtlCol="0" anchor="ctr"/>
          <a:lstStyle/>
          <a:p>
            <a:pPr algn="ctr" indent="0" marL="0">
              <a:buNone/>
            </a:pPr>
            <a:r>
              <a:rPr lang="en-US" sz="1600" b="1" dirty="0">
                <a:solidFill>
                  <a:srgbClr val="F4F1EA"/>
                </a:solidFill>
                <a:latin typeface="Calibri" pitchFamily="34" charset="0"/>
                <a:ea typeface="Calibri" pitchFamily="34" charset="-122"/>
                <a:cs typeface="Calibri" pitchFamily="34" charset="-120"/>
              </a:rPr>
              <a:t>Home-win base rate</a:t>
            </a:r>
            <a:endParaRPr lang="en-US" sz="1600" dirty="0"/>
          </a:p>
        </p:txBody>
      </p:sp>
      <p:sp>
        <p:nvSpPr>
          <p:cNvPr id="7" name="Text 5"/>
          <p:cNvSpPr/>
          <p:nvPr/>
        </p:nvSpPr>
        <p:spPr>
          <a:xfrm>
            <a:off x="960120" y="3657600"/>
            <a:ext cx="2862072" cy="1005840"/>
          </a:xfrm>
          <a:prstGeom prst="rect">
            <a:avLst/>
          </a:prstGeom>
          <a:noFill/>
          <a:ln/>
        </p:spPr>
        <p:txBody>
          <a:bodyPr wrap="square" lIns="0" tIns="0" rIns="0" bIns="0" rtlCol="0" anchor="ctr"/>
          <a:lstStyle/>
          <a:p>
            <a:pPr algn="ctr" indent="0" marL="0">
              <a:lnSpc>
                <a:spcPct val="108000"/>
              </a:lnSpc>
              <a:buNone/>
            </a:pPr>
            <a:r>
              <a:rPr lang="en-US" sz="1350" dirty="0">
                <a:solidFill>
                  <a:srgbClr val="C7D0DD"/>
                </a:solidFill>
                <a:latin typeface="Calibri" pitchFamily="34" charset="0"/>
                <a:ea typeface="Calibri" pitchFamily="34" charset="-122"/>
                <a:cs typeface="Calibri" pitchFamily="34" charset="-120"/>
              </a:rPr>
              <a:t>The naive floor: just pick the home team.</a:t>
            </a:r>
            <a:endParaRPr lang="en-US" sz="1350" dirty="0"/>
          </a:p>
        </p:txBody>
      </p:sp>
      <p:sp>
        <p:nvSpPr>
          <p:cNvPr id="8" name="Shape 6"/>
          <p:cNvSpPr/>
          <p:nvPr/>
        </p:nvSpPr>
        <p:spPr>
          <a:xfrm>
            <a:off x="4343400" y="1965960"/>
            <a:ext cx="3502152" cy="2834640"/>
          </a:xfrm>
          <a:prstGeom prst="roundRect">
            <a:avLst>
              <a:gd name="adj" fmla="val 2903"/>
            </a:avLst>
          </a:prstGeom>
          <a:solidFill>
            <a:srgbClr val="13243B"/>
          </a:solidFill>
          <a:ln/>
          <a:effectLst>
            <a:outerShdw sx="100000" sy="100000" kx="0" ky="0" algn="bl" rotWithShape="0" blurRad="114300" dist="38100" dir="5400000">
              <a:srgbClr val="000000">
                <a:alpha val="30000"/>
              </a:srgbClr>
            </a:outerShdw>
          </a:effectLst>
        </p:spPr>
      </p:sp>
      <p:sp>
        <p:nvSpPr>
          <p:cNvPr id="9" name="Text 7"/>
          <p:cNvSpPr/>
          <p:nvPr/>
        </p:nvSpPr>
        <p:spPr>
          <a:xfrm>
            <a:off x="4389120" y="2286000"/>
            <a:ext cx="3383280" cy="914400"/>
          </a:xfrm>
          <a:prstGeom prst="rect">
            <a:avLst/>
          </a:prstGeom>
          <a:noFill/>
          <a:ln/>
        </p:spPr>
        <p:txBody>
          <a:bodyPr wrap="square" lIns="0" tIns="0" rIns="0" bIns="0" rtlCol="0" anchor="ctr"/>
          <a:lstStyle/>
          <a:p>
            <a:pPr algn="ctr" indent="0" marL="0">
              <a:buNone/>
            </a:pPr>
            <a:r>
              <a:rPr lang="en-US" sz="4400" b="1" dirty="0">
                <a:solidFill>
                  <a:srgbClr val="ECE3CF"/>
                </a:solidFill>
                <a:latin typeface="Arial" pitchFamily="34" charset="0"/>
                <a:ea typeface="Arial" pitchFamily="34" charset="-122"/>
                <a:cs typeface="Arial" pitchFamily="34" charset="-120"/>
              </a:rPr>
              <a:t>~67%</a:t>
            </a:r>
            <a:endParaRPr lang="en-US" sz="4400" dirty="0"/>
          </a:p>
        </p:txBody>
      </p:sp>
      <p:sp>
        <p:nvSpPr>
          <p:cNvPr id="10" name="Text 8"/>
          <p:cNvSpPr/>
          <p:nvPr/>
        </p:nvSpPr>
        <p:spPr>
          <a:xfrm>
            <a:off x="4617720" y="3246120"/>
            <a:ext cx="2953512" cy="365760"/>
          </a:xfrm>
          <a:prstGeom prst="rect">
            <a:avLst/>
          </a:prstGeom>
          <a:noFill/>
          <a:ln/>
        </p:spPr>
        <p:txBody>
          <a:bodyPr wrap="square" lIns="0" tIns="0" rIns="0" bIns="0" rtlCol="0" anchor="ctr"/>
          <a:lstStyle/>
          <a:p>
            <a:pPr algn="ctr" indent="0" marL="0">
              <a:buNone/>
            </a:pPr>
            <a:r>
              <a:rPr lang="en-US" sz="1600" b="1" dirty="0">
                <a:solidFill>
                  <a:srgbClr val="F4F1EA"/>
                </a:solidFill>
                <a:latin typeface="Calibri" pitchFamily="34" charset="0"/>
                <a:ea typeface="Calibri" pitchFamily="34" charset="-122"/>
                <a:cs typeface="Calibri" pitchFamily="34" charset="-120"/>
              </a:rPr>
              <a:t>Las Vegas ceiling</a:t>
            </a:r>
            <a:endParaRPr lang="en-US" sz="1600" dirty="0"/>
          </a:p>
        </p:txBody>
      </p:sp>
      <p:sp>
        <p:nvSpPr>
          <p:cNvPr id="11" name="Text 9"/>
          <p:cNvSpPr/>
          <p:nvPr/>
        </p:nvSpPr>
        <p:spPr>
          <a:xfrm>
            <a:off x="4663440" y="3657600"/>
            <a:ext cx="2862072" cy="1005840"/>
          </a:xfrm>
          <a:prstGeom prst="rect">
            <a:avLst/>
          </a:prstGeom>
          <a:noFill/>
          <a:ln/>
        </p:spPr>
        <p:txBody>
          <a:bodyPr wrap="square" lIns="0" tIns="0" rIns="0" bIns="0" rtlCol="0" anchor="ctr"/>
          <a:lstStyle/>
          <a:p>
            <a:pPr algn="ctr" indent="0" marL="0">
              <a:lnSpc>
                <a:spcPct val="108000"/>
              </a:lnSpc>
              <a:buNone/>
            </a:pPr>
            <a:r>
              <a:rPr lang="en-US" sz="1350" dirty="0">
                <a:solidFill>
                  <a:srgbClr val="C7D0DD"/>
                </a:solidFill>
                <a:latin typeface="Calibri" pitchFamily="34" charset="0"/>
                <a:ea typeface="Calibri" pitchFamily="34" charset="-122"/>
                <a:cs typeface="Calibri" pitchFamily="34" charset="-120"/>
              </a:rPr>
              <a:t>The practical upper bound on public forecasts.</a:t>
            </a:r>
            <a:endParaRPr lang="en-US" sz="1350" dirty="0"/>
          </a:p>
        </p:txBody>
      </p:sp>
      <p:sp>
        <p:nvSpPr>
          <p:cNvPr id="12" name="Shape 10"/>
          <p:cNvSpPr/>
          <p:nvPr/>
        </p:nvSpPr>
        <p:spPr>
          <a:xfrm>
            <a:off x="8046720" y="1965960"/>
            <a:ext cx="3502152" cy="2834640"/>
          </a:xfrm>
          <a:prstGeom prst="roundRect">
            <a:avLst>
              <a:gd name="adj" fmla="val 2903"/>
            </a:avLst>
          </a:prstGeom>
          <a:solidFill>
            <a:srgbClr val="13243B"/>
          </a:solidFill>
          <a:ln/>
          <a:effectLst>
            <a:outerShdw sx="100000" sy="100000" kx="0" ky="0" algn="bl" rotWithShape="0" blurRad="114300" dist="38100" dir="5400000">
              <a:srgbClr val="000000">
                <a:alpha val="30000"/>
              </a:srgbClr>
            </a:outerShdw>
          </a:effectLst>
        </p:spPr>
      </p:sp>
      <p:sp>
        <p:nvSpPr>
          <p:cNvPr id="13" name="Text 11"/>
          <p:cNvSpPr/>
          <p:nvPr/>
        </p:nvSpPr>
        <p:spPr>
          <a:xfrm>
            <a:off x="8092440" y="2286000"/>
            <a:ext cx="3383280" cy="914400"/>
          </a:xfrm>
          <a:prstGeom prst="rect">
            <a:avLst/>
          </a:prstGeom>
          <a:noFill/>
          <a:ln/>
        </p:spPr>
        <p:txBody>
          <a:bodyPr wrap="square" lIns="0" tIns="0" rIns="0" bIns="0" rtlCol="0" anchor="ctr"/>
          <a:lstStyle/>
          <a:p>
            <a:pPr algn="ctr" indent="0" marL="0">
              <a:buNone/>
            </a:pPr>
            <a:r>
              <a:rPr lang="en-US" sz="4400" b="1" dirty="0">
                <a:solidFill>
                  <a:srgbClr val="37C2A4"/>
                </a:solidFill>
                <a:latin typeface="Arial" pitchFamily="34" charset="0"/>
                <a:ea typeface="Arial" pitchFamily="34" charset="-122"/>
                <a:cs typeface="Arial" pitchFamily="34" charset="-120"/>
              </a:rPr>
              <a:t>1 game</a:t>
            </a:r>
            <a:endParaRPr lang="en-US" sz="4400" dirty="0"/>
          </a:p>
        </p:txBody>
      </p:sp>
      <p:sp>
        <p:nvSpPr>
          <p:cNvPr id="14" name="Text 12"/>
          <p:cNvSpPr/>
          <p:nvPr/>
        </p:nvSpPr>
        <p:spPr>
          <a:xfrm>
            <a:off x="8321040" y="3246120"/>
            <a:ext cx="2953512" cy="365760"/>
          </a:xfrm>
          <a:prstGeom prst="rect">
            <a:avLst/>
          </a:prstGeom>
          <a:noFill/>
          <a:ln/>
        </p:spPr>
        <p:txBody>
          <a:bodyPr wrap="square" lIns="0" tIns="0" rIns="0" bIns="0" rtlCol="0" anchor="ctr"/>
          <a:lstStyle/>
          <a:p>
            <a:pPr algn="ctr" indent="0" marL="0">
              <a:buNone/>
            </a:pPr>
            <a:r>
              <a:rPr lang="en-US" sz="1600" b="1" dirty="0">
                <a:solidFill>
                  <a:srgbClr val="F4F1EA"/>
                </a:solidFill>
                <a:latin typeface="Calibri" pitchFamily="34" charset="0"/>
                <a:ea typeface="Calibri" pitchFamily="34" charset="-122"/>
                <a:cs typeface="Calibri" pitchFamily="34" charset="-120"/>
              </a:rPr>
              <a:t>All variance, no mercy</a:t>
            </a:r>
            <a:endParaRPr lang="en-US" sz="1600" dirty="0"/>
          </a:p>
        </p:txBody>
      </p:sp>
      <p:sp>
        <p:nvSpPr>
          <p:cNvPr id="15" name="Text 13"/>
          <p:cNvSpPr/>
          <p:nvPr/>
        </p:nvSpPr>
        <p:spPr>
          <a:xfrm>
            <a:off x="8366760" y="3657600"/>
            <a:ext cx="2862072" cy="1005840"/>
          </a:xfrm>
          <a:prstGeom prst="rect">
            <a:avLst/>
          </a:prstGeom>
          <a:noFill/>
          <a:ln/>
        </p:spPr>
        <p:txBody>
          <a:bodyPr wrap="square" lIns="0" tIns="0" rIns="0" bIns="0" rtlCol="0" anchor="ctr"/>
          <a:lstStyle/>
          <a:p>
            <a:pPr algn="ctr" indent="0" marL="0">
              <a:lnSpc>
                <a:spcPct val="108000"/>
              </a:lnSpc>
              <a:buNone/>
            </a:pPr>
            <a:r>
              <a:rPr lang="en-US" sz="1350" dirty="0">
                <a:solidFill>
                  <a:srgbClr val="C7D0DD"/>
                </a:solidFill>
                <a:latin typeface="Calibri" pitchFamily="34" charset="0"/>
                <a:ea typeface="Calibri" pitchFamily="34" charset="-122"/>
                <a:cs typeface="Calibri" pitchFamily="34" charset="-120"/>
              </a:rPr>
              <a:t>Shot luck, foul trouble, late-game noise — unforecastable.</a:t>
            </a:r>
            <a:endParaRPr lang="en-US" sz="1350" dirty="0"/>
          </a:p>
        </p:txBody>
      </p:sp>
      <p:sp>
        <p:nvSpPr>
          <p:cNvPr id="16" name="Text 14"/>
          <p:cNvSpPr/>
          <p:nvPr/>
        </p:nvSpPr>
        <p:spPr>
          <a:xfrm>
            <a:off x="640080" y="5212080"/>
            <a:ext cx="10881360" cy="731520"/>
          </a:xfrm>
          <a:prstGeom prst="rect">
            <a:avLst/>
          </a:prstGeom>
          <a:noFill/>
          <a:ln/>
        </p:spPr>
        <p:txBody>
          <a:bodyPr wrap="square" lIns="0" tIns="0" rIns="0" bIns="0" rtlCol="0" anchor="ctr"/>
          <a:lstStyle/>
          <a:p>
            <a:pPr algn="ctr" indent="0" marL="0">
              <a:lnSpc>
                <a:spcPct val="110000"/>
              </a:lnSpc>
              <a:buNone/>
            </a:pPr>
            <a:r>
              <a:rPr lang="en-US" sz="1700" dirty="0">
                <a:solidFill>
                  <a:srgbClr val="F4F1EA"/>
                </a:solidFill>
                <a:latin typeface="Calibri" pitchFamily="34" charset="0"/>
                <a:ea typeface="Calibri" pitchFamily="34" charset="-122"/>
                <a:cs typeface="Calibri" pitchFamily="34" charset="-120"/>
              </a:rPr>
              <a:t>A useful model has to climb from the 54% floor toward the 67% ceiling — and resist the temptation to cheat past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03 · THE DATA</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Ten seasons, rebuilt to respect time</a:t>
            </a:r>
            <a:endParaRPr lang="en-US" sz="3200" dirty="0"/>
          </a:p>
        </p:txBody>
      </p:sp>
      <p:sp>
        <p:nvSpPr>
          <p:cNvPr id="4" name="Shape 2"/>
          <p:cNvSpPr/>
          <p:nvPr/>
        </p:nvSpPr>
        <p:spPr>
          <a:xfrm>
            <a:off x="640080" y="1920240"/>
            <a:ext cx="2615184" cy="1554480"/>
          </a:xfrm>
          <a:prstGeom prst="roundRect">
            <a:avLst>
              <a:gd name="adj" fmla="val 5294"/>
            </a:avLst>
          </a:prstGeom>
          <a:solidFill>
            <a:srgbClr val="13243B"/>
          </a:solidFill>
          <a:ln/>
          <a:effectLst>
            <a:outerShdw sx="100000" sy="100000" kx="0" ky="0" algn="bl" rotWithShape="0" blurRad="114300" dist="38100" dir="5400000">
              <a:srgbClr val="000000">
                <a:alpha val="30000"/>
              </a:srgbClr>
            </a:outerShdw>
          </a:effectLst>
        </p:spPr>
      </p:sp>
      <p:sp>
        <p:nvSpPr>
          <p:cNvPr id="5" name="Text 3"/>
          <p:cNvSpPr/>
          <p:nvPr/>
        </p:nvSpPr>
        <p:spPr>
          <a:xfrm>
            <a:off x="640080" y="2121408"/>
            <a:ext cx="2615184" cy="822960"/>
          </a:xfrm>
          <a:prstGeom prst="rect">
            <a:avLst/>
          </a:prstGeom>
          <a:noFill/>
          <a:ln/>
        </p:spPr>
        <p:txBody>
          <a:bodyPr wrap="square" lIns="0" tIns="0" rIns="0" bIns="0" rtlCol="0" anchor="ctr"/>
          <a:lstStyle/>
          <a:p>
            <a:pPr algn="ctr" indent="0" marL="0">
              <a:buNone/>
            </a:pPr>
            <a:r>
              <a:rPr lang="en-US" sz="3800" b="1" dirty="0">
                <a:solidFill>
                  <a:srgbClr val="37C2A4"/>
                </a:solidFill>
                <a:latin typeface="Arial" pitchFamily="34" charset="0"/>
                <a:ea typeface="Arial" pitchFamily="34" charset="-122"/>
                <a:cs typeface="Arial" pitchFamily="34" charset="-120"/>
              </a:rPr>
              <a:t>11,876</a:t>
            </a:r>
            <a:endParaRPr lang="en-US" sz="3800" dirty="0"/>
          </a:p>
        </p:txBody>
      </p:sp>
      <p:sp>
        <p:nvSpPr>
          <p:cNvPr id="6" name="Text 4"/>
          <p:cNvSpPr/>
          <p:nvPr/>
        </p:nvSpPr>
        <p:spPr>
          <a:xfrm>
            <a:off x="777240" y="2944368"/>
            <a:ext cx="2340864" cy="411480"/>
          </a:xfrm>
          <a:prstGeom prst="rect">
            <a:avLst/>
          </a:prstGeom>
          <a:noFill/>
          <a:ln/>
        </p:spPr>
        <p:txBody>
          <a:bodyPr wrap="square" lIns="0" tIns="0" rIns="0" bIns="0" rtlCol="0" anchor="ctr"/>
          <a:lstStyle/>
          <a:p>
            <a:pPr algn="ctr" indent="0" marL="0">
              <a:buNone/>
            </a:pPr>
            <a:r>
              <a:rPr lang="en-US" sz="1300" dirty="0">
                <a:solidFill>
                  <a:srgbClr val="93A1B6"/>
                </a:solidFill>
                <a:latin typeface="Calibri" pitchFamily="34" charset="0"/>
                <a:ea typeface="Calibri" pitchFamily="34" charset="-122"/>
                <a:cs typeface="Calibri" pitchFamily="34" charset="-120"/>
              </a:rPr>
              <a:t>games</a:t>
            </a:r>
            <a:endParaRPr lang="en-US" sz="1300" dirty="0"/>
          </a:p>
        </p:txBody>
      </p:sp>
      <p:sp>
        <p:nvSpPr>
          <p:cNvPr id="7" name="Shape 5"/>
          <p:cNvSpPr/>
          <p:nvPr/>
        </p:nvSpPr>
        <p:spPr>
          <a:xfrm>
            <a:off x="3401568" y="1920240"/>
            <a:ext cx="2615184" cy="1554480"/>
          </a:xfrm>
          <a:prstGeom prst="roundRect">
            <a:avLst>
              <a:gd name="adj" fmla="val 5294"/>
            </a:avLst>
          </a:prstGeom>
          <a:solidFill>
            <a:srgbClr val="13243B"/>
          </a:solidFill>
          <a:ln/>
          <a:effectLst>
            <a:outerShdw sx="100000" sy="100000" kx="0" ky="0" algn="bl" rotWithShape="0" blurRad="114300" dist="38100" dir="5400000">
              <a:srgbClr val="000000">
                <a:alpha val="30000"/>
              </a:srgbClr>
            </a:outerShdw>
          </a:effectLst>
        </p:spPr>
      </p:sp>
      <p:sp>
        <p:nvSpPr>
          <p:cNvPr id="8" name="Text 6"/>
          <p:cNvSpPr/>
          <p:nvPr/>
        </p:nvSpPr>
        <p:spPr>
          <a:xfrm>
            <a:off x="3401568" y="2121408"/>
            <a:ext cx="2615184" cy="822960"/>
          </a:xfrm>
          <a:prstGeom prst="rect">
            <a:avLst/>
          </a:prstGeom>
          <a:noFill/>
          <a:ln/>
        </p:spPr>
        <p:txBody>
          <a:bodyPr wrap="square" lIns="0" tIns="0" rIns="0" bIns="0" rtlCol="0" anchor="ctr"/>
          <a:lstStyle/>
          <a:p>
            <a:pPr algn="ctr" indent="0" marL="0">
              <a:buNone/>
            </a:pPr>
            <a:r>
              <a:rPr lang="en-US" sz="3800" b="1" dirty="0">
                <a:solidFill>
                  <a:srgbClr val="37C2A4"/>
                </a:solidFill>
                <a:latin typeface="Arial" pitchFamily="34" charset="0"/>
                <a:ea typeface="Arial" pitchFamily="34" charset="-122"/>
                <a:cs typeface="Arial" pitchFamily="34" charset="-120"/>
              </a:rPr>
              <a:t>64</a:t>
            </a:r>
            <a:endParaRPr lang="en-US" sz="3800" dirty="0"/>
          </a:p>
        </p:txBody>
      </p:sp>
      <p:sp>
        <p:nvSpPr>
          <p:cNvPr id="9" name="Text 7"/>
          <p:cNvSpPr/>
          <p:nvPr/>
        </p:nvSpPr>
        <p:spPr>
          <a:xfrm>
            <a:off x="3538728" y="2944368"/>
            <a:ext cx="2340864" cy="411480"/>
          </a:xfrm>
          <a:prstGeom prst="rect">
            <a:avLst/>
          </a:prstGeom>
          <a:noFill/>
          <a:ln/>
        </p:spPr>
        <p:txBody>
          <a:bodyPr wrap="square" lIns="0" tIns="0" rIns="0" bIns="0" rtlCol="0" anchor="ctr"/>
          <a:lstStyle/>
          <a:p>
            <a:pPr algn="ctr" indent="0" marL="0">
              <a:buNone/>
            </a:pPr>
            <a:r>
              <a:rPr lang="en-US" sz="1300" dirty="0">
                <a:solidFill>
                  <a:srgbClr val="93A1B6"/>
                </a:solidFill>
                <a:latin typeface="Calibri" pitchFamily="34" charset="0"/>
                <a:ea typeface="Calibri" pitchFamily="34" charset="-122"/>
                <a:cs typeface="Calibri" pitchFamily="34" charset="-120"/>
              </a:rPr>
              <a:t>leakage-free features</a:t>
            </a:r>
            <a:endParaRPr lang="en-US" sz="1300" dirty="0"/>
          </a:p>
        </p:txBody>
      </p:sp>
      <p:sp>
        <p:nvSpPr>
          <p:cNvPr id="10" name="Shape 8"/>
          <p:cNvSpPr/>
          <p:nvPr/>
        </p:nvSpPr>
        <p:spPr>
          <a:xfrm>
            <a:off x="6163056" y="1920240"/>
            <a:ext cx="2615184" cy="1554480"/>
          </a:xfrm>
          <a:prstGeom prst="roundRect">
            <a:avLst>
              <a:gd name="adj" fmla="val 5294"/>
            </a:avLst>
          </a:prstGeom>
          <a:solidFill>
            <a:srgbClr val="13243B"/>
          </a:solidFill>
          <a:ln/>
          <a:effectLst>
            <a:outerShdw sx="100000" sy="100000" kx="0" ky="0" algn="bl" rotWithShape="0" blurRad="114300" dist="38100" dir="5400000">
              <a:srgbClr val="000000">
                <a:alpha val="30000"/>
              </a:srgbClr>
            </a:outerShdw>
          </a:effectLst>
        </p:spPr>
      </p:sp>
      <p:sp>
        <p:nvSpPr>
          <p:cNvPr id="11" name="Text 9"/>
          <p:cNvSpPr/>
          <p:nvPr/>
        </p:nvSpPr>
        <p:spPr>
          <a:xfrm>
            <a:off x="6163056" y="2121408"/>
            <a:ext cx="2615184" cy="822960"/>
          </a:xfrm>
          <a:prstGeom prst="rect">
            <a:avLst/>
          </a:prstGeom>
          <a:noFill/>
          <a:ln/>
        </p:spPr>
        <p:txBody>
          <a:bodyPr wrap="square" lIns="0" tIns="0" rIns="0" bIns="0" rtlCol="0" anchor="ctr"/>
          <a:lstStyle/>
          <a:p>
            <a:pPr algn="ctr" indent="0" marL="0">
              <a:buNone/>
            </a:pPr>
            <a:r>
              <a:rPr lang="en-US" sz="3800" b="1" dirty="0">
                <a:solidFill>
                  <a:srgbClr val="37C2A4"/>
                </a:solidFill>
                <a:latin typeface="Arial" pitchFamily="34" charset="0"/>
                <a:ea typeface="Arial" pitchFamily="34" charset="-122"/>
                <a:cs typeface="Arial" pitchFamily="34" charset="-120"/>
              </a:rPr>
              <a:t>10</a:t>
            </a:r>
            <a:endParaRPr lang="en-US" sz="3800" dirty="0"/>
          </a:p>
        </p:txBody>
      </p:sp>
      <p:sp>
        <p:nvSpPr>
          <p:cNvPr id="12" name="Text 10"/>
          <p:cNvSpPr/>
          <p:nvPr/>
        </p:nvSpPr>
        <p:spPr>
          <a:xfrm>
            <a:off x="6300216" y="2944368"/>
            <a:ext cx="2340864" cy="411480"/>
          </a:xfrm>
          <a:prstGeom prst="rect">
            <a:avLst/>
          </a:prstGeom>
          <a:noFill/>
          <a:ln/>
        </p:spPr>
        <p:txBody>
          <a:bodyPr wrap="square" lIns="0" tIns="0" rIns="0" bIns="0" rtlCol="0" anchor="ctr"/>
          <a:lstStyle/>
          <a:p>
            <a:pPr algn="ctr" indent="0" marL="0">
              <a:buNone/>
            </a:pPr>
            <a:r>
              <a:rPr lang="en-US" sz="1300" dirty="0">
                <a:solidFill>
                  <a:srgbClr val="93A1B6"/>
                </a:solidFill>
                <a:latin typeface="Calibri" pitchFamily="34" charset="0"/>
                <a:ea typeface="Calibri" pitchFamily="34" charset="-122"/>
                <a:cs typeface="Calibri" pitchFamily="34" charset="-120"/>
              </a:rPr>
              <a:t>seasons (2015–25)</a:t>
            </a:r>
            <a:endParaRPr lang="en-US" sz="1300" dirty="0"/>
          </a:p>
        </p:txBody>
      </p:sp>
      <p:sp>
        <p:nvSpPr>
          <p:cNvPr id="13" name="Shape 11"/>
          <p:cNvSpPr/>
          <p:nvPr/>
        </p:nvSpPr>
        <p:spPr>
          <a:xfrm>
            <a:off x="8924544" y="1920240"/>
            <a:ext cx="2615184" cy="1554480"/>
          </a:xfrm>
          <a:prstGeom prst="roundRect">
            <a:avLst>
              <a:gd name="adj" fmla="val 5294"/>
            </a:avLst>
          </a:prstGeom>
          <a:solidFill>
            <a:srgbClr val="13243B"/>
          </a:solidFill>
          <a:ln/>
          <a:effectLst>
            <a:outerShdw sx="100000" sy="100000" kx="0" ky="0" algn="bl" rotWithShape="0" blurRad="114300" dist="38100" dir="5400000">
              <a:srgbClr val="000000">
                <a:alpha val="30000"/>
              </a:srgbClr>
            </a:outerShdw>
          </a:effectLst>
        </p:spPr>
      </p:sp>
      <p:sp>
        <p:nvSpPr>
          <p:cNvPr id="14" name="Text 12"/>
          <p:cNvSpPr/>
          <p:nvPr/>
        </p:nvSpPr>
        <p:spPr>
          <a:xfrm>
            <a:off x="8924544" y="2121408"/>
            <a:ext cx="2615184" cy="822960"/>
          </a:xfrm>
          <a:prstGeom prst="rect">
            <a:avLst/>
          </a:prstGeom>
          <a:noFill/>
          <a:ln/>
        </p:spPr>
        <p:txBody>
          <a:bodyPr wrap="square" lIns="0" tIns="0" rIns="0" bIns="0" rtlCol="0" anchor="ctr"/>
          <a:lstStyle/>
          <a:p>
            <a:pPr algn="ctr" indent="0" marL="0">
              <a:buNone/>
            </a:pPr>
            <a:r>
              <a:rPr lang="en-US" sz="3800" b="1" dirty="0">
                <a:solidFill>
                  <a:srgbClr val="37C2A4"/>
                </a:solidFill>
                <a:latin typeface="Arial" pitchFamily="34" charset="0"/>
                <a:ea typeface="Arial" pitchFamily="34" charset="-122"/>
                <a:cs typeface="Arial" pitchFamily="34" charset="-120"/>
              </a:rPr>
              <a:t>13.5k</a:t>
            </a:r>
            <a:endParaRPr lang="en-US" sz="3800" dirty="0"/>
          </a:p>
        </p:txBody>
      </p:sp>
      <p:sp>
        <p:nvSpPr>
          <p:cNvPr id="15" name="Text 13"/>
          <p:cNvSpPr/>
          <p:nvPr/>
        </p:nvSpPr>
        <p:spPr>
          <a:xfrm>
            <a:off x="9061704" y="2944368"/>
            <a:ext cx="2340864" cy="411480"/>
          </a:xfrm>
          <a:prstGeom prst="rect">
            <a:avLst/>
          </a:prstGeom>
          <a:noFill/>
          <a:ln/>
        </p:spPr>
        <p:txBody>
          <a:bodyPr wrap="square" lIns="0" tIns="0" rIns="0" bIns="0" rtlCol="0" anchor="ctr"/>
          <a:lstStyle/>
          <a:p>
            <a:pPr algn="ctr" indent="0" marL="0">
              <a:buNone/>
            </a:pPr>
            <a:r>
              <a:rPr lang="en-US" sz="1300" dirty="0">
                <a:solidFill>
                  <a:srgbClr val="93A1B6"/>
                </a:solidFill>
                <a:latin typeface="Calibri" pitchFamily="34" charset="0"/>
                <a:ea typeface="Calibri" pitchFamily="34" charset="-122"/>
                <a:cs typeface="Calibri" pitchFamily="34" charset="-120"/>
              </a:rPr>
              <a:t>model parameters</a:t>
            </a:r>
            <a:endParaRPr lang="en-US" sz="1300" dirty="0"/>
          </a:p>
        </p:txBody>
      </p:sp>
      <p:sp>
        <p:nvSpPr>
          <p:cNvPr id="16" name="Shape 14"/>
          <p:cNvSpPr/>
          <p:nvPr/>
        </p:nvSpPr>
        <p:spPr>
          <a:xfrm>
            <a:off x="640080" y="3886200"/>
            <a:ext cx="2615184" cy="2148840"/>
          </a:xfrm>
          <a:prstGeom prst="roundRect">
            <a:avLst>
              <a:gd name="adj" fmla="val 3830"/>
            </a:avLst>
          </a:prstGeom>
          <a:solidFill>
            <a:srgbClr val="16294A"/>
          </a:solidFill>
          <a:ln/>
          <a:effectLst>
            <a:outerShdw sx="100000" sy="100000" kx="0" ky="0" algn="bl" rotWithShape="0" blurRad="114300" dist="38100" dir="5400000">
              <a:srgbClr val="000000">
                <a:alpha val="30000"/>
              </a:srgbClr>
            </a:outerShdw>
          </a:effectLst>
        </p:spPr>
      </p:sp>
      <p:sp>
        <p:nvSpPr>
          <p:cNvPr id="17" name="Text 15"/>
          <p:cNvSpPr/>
          <p:nvPr/>
        </p:nvSpPr>
        <p:spPr>
          <a:xfrm>
            <a:off x="868680" y="4114800"/>
            <a:ext cx="731520" cy="640080"/>
          </a:xfrm>
          <a:prstGeom prst="rect">
            <a:avLst/>
          </a:prstGeom>
          <a:noFill/>
          <a:ln/>
        </p:spPr>
        <p:txBody>
          <a:bodyPr wrap="square" lIns="0" tIns="0" rIns="0" bIns="0" rtlCol="0" anchor="ctr"/>
          <a:lstStyle/>
          <a:p>
            <a:pPr indent="0" marL="0">
              <a:buNone/>
            </a:pPr>
            <a:r>
              <a:rPr lang="en-US" sz="3000" b="1" dirty="0">
                <a:solidFill>
                  <a:srgbClr val="F26A2B"/>
                </a:solidFill>
                <a:latin typeface="Arial" pitchFamily="34" charset="0"/>
                <a:ea typeface="Arial" pitchFamily="34" charset="-122"/>
                <a:cs typeface="Arial" pitchFamily="34" charset="-120"/>
              </a:rPr>
              <a:t>1</a:t>
            </a:r>
            <a:endParaRPr lang="en-US" sz="3000" dirty="0"/>
          </a:p>
        </p:txBody>
      </p:sp>
      <p:sp>
        <p:nvSpPr>
          <p:cNvPr id="18" name="Text 16"/>
          <p:cNvSpPr/>
          <p:nvPr/>
        </p:nvSpPr>
        <p:spPr>
          <a:xfrm>
            <a:off x="868680" y="4800600"/>
            <a:ext cx="2194560" cy="640080"/>
          </a:xfrm>
          <a:prstGeom prst="rect">
            <a:avLst/>
          </a:prstGeom>
          <a:noFill/>
          <a:ln/>
        </p:spPr>
        <p:txBody>
          <a:bodyPr wrap="square" lIns="0" tIns="0" rIns="0" bIns="0" rtlCol="0" anchor="ctr"/>
          <a:lstStyle/>
          <a:p>
            <a:pPr indent="0" marL="0">
              <a:lnSpc>
                <a:spcPct val="98000"/>
              </a:lnSpc>
              <a:buNone/>
            </a:pPr>
            <a:r>
              <a:rPr lang="en-US" sz="1550" b="1" dirty="0">
                <a:solidFill>
                  <a:srgbClr val="F4F1EA"/>
                </a:solidFill>
                <a:latin typeface="Calibri" pitchFamily="34" charset="0"/>
                <a:ea typeface="Calibri" pitchFamily="34" charset="-122"/>
                <a:cs typeface="Calibri" pitchFamily="34" charset="-120"/>
              </a:rPr>
              <a:t>NBA Stats API</a:t>
            </a:r>
            <a:endParaRPr lang="en-US" sz="1550" dirty="0"/>
          </a:p>
        </p:txBody>
      </p:sp>
      <p:sp>
        <p:nvSpPr>
          <p:cNvPr id="19" name="Text 17"/>
          <p:cNvSpPr/>
          <p:nvPr/>
        </p:nvSpPr>
        <p:spPr>
          <a:xfrm>
            <a:off x="868680" y="5440680"/>
            <a:ext cx="2240280" cy="548640"/>
          </a:xfrm>
          <a:prstGeom prst="rect">
            <a:avLst/>
          </a:prstGeom>
          <a:noFill/>
          <a:ln/>
        </p:spPr>
        <p:txBody>
          <a:bodyPr wrap="square" lIns="0" tIns="0" rIns="0" bIns="0" rtlCol="0" anchor="ctr"/>
          <a:lstStyle/>
          <a:p>
            <a:pPr indent="0" marL="0">
              <a:lnSpc>
                <a:spcPct val="100000"/>
              </a:lnSpc>
              <a:buNone/>
            </a:pPr>
            <a:r>
              <a:rPr lang="en-US" sz="1150" dirty="0">
                <a:solidFill>
                  <a:srgbClr val="93A1B6"/>
                </a:solidFill>
                <a:latin typeface="Calibri" pitchFamily="34" charset="0"/>
                <a:ea typeface="Calibri" pitchFamily="34" charset="-122"/>
                <a:cs typeface="Calibri" pitchFamily="34" charset="-120"/>
              </a:rPr>
              <a:t>LeagueGameFinder, 10 seasons</a:t>
            </a:r>
            <a:endParaRPr lang="en-US" sz="1150" dirty="0"/>
          </a:p>
        </p:txBody>
      </p:sp>
      <p:sp>
        <p:nvSpPr>
          <p:cNvPr id="20" name="Text 18"/>
          <p:cNvSpPr/>
          <p:nvPr/>
        </p:nvSpPr>
        <p:spPr>
          <a:xfrm>
            <a:off x="3182112" y="4572000"/>
            <a:ext cx="365760" cy="640080"/>
          </a:xfrm>
          <a:prstGeom prst="rect">
            <a:avLst/>
          </a:prstGeom>
          <a:noFill/>
          <a:ln/>
        </p:spPr>
        <p:txBody>
          <a:bodyPr wrap="square" lIns="0" tIns="0" rIns="0" bIns="0" rtlCol="0" anchor="ctr"/>
          <a:lstStyle/>
          <a:p>
            <a:pPr algn="ctr" indent="0" marL="0">
              <a:buNone/>
            </a:pPr>
            <a:r>
              <a:rPr lang="en-US" sz="3000" dirty="0">
                <a:solidFill>
                  <a:srgbClr val="F26A2B"/>
                </a:solidFill>
                <a:latin typeface="Arial" pitchFamily="34" charset="0"/>
                <a:ea typeface="Arial" pitchFamily="34" charset="-122"/>
                <a:cs typeface="Arial" pitchFamily="34" charset="-120"/>
              </a:rPr>
              <a:t>›</a:t>
            </a:r>
            <a:endParaRPr lang="en-US" sz="3000" dirty="0"/>
          </a:p>
        </p:txBody>
      </p:sp>
      <p:sp>
        <p:nvSpPr>
          <p:cNvPr id="21" name="Shape 19"/>
          <p:cNvSpPr/>
          <p:nvPr/>
        </p:nvSpPr>
        <p:spPr>
          <a:xfrm>
            <a:off x="3401568" y="3886200"/>
            <a:ext cx="2615184" cy="2148840"/>
          </a:xfrm>
          <a:prstGeom prst="roundRect">
            <a:avLst>
              <a:gd name="adj" fmla="val 3830"/>
            </a:avLst>
          </a:prstGeom>
          <a:solidFill>
            <a:srgbClr val="16294A"/>
          </a:solidFill>
          <a:ln/>
          <a:effectLst>
            <a:outerShdw sx="100000" sy="100000" kx="0" ky="0" algn="bl" rotWithShape="0" blurRad="114300" dist="38100" dir="5400000">
              <a:srgbClr val="000000">
                <a:alpha val="30000"/>
              </a:srgbClr>
            </a:outerShdw>
          </a:effectLst>
        </p:spPr>
      </p:sp>
      <p:sp>
        <p:nvSpPr>
          <p:cNvPr id="22" name="Text 20"/>
          <p:cNvSpPr/>
          <p:nvPr/>
        </p:nvSpPr>
        <p:spPr>
          <a:xfrm>
            <a:off x="3630168" y="4114800"/>
            <a:ext cx="731520" cy="640080"/>
          </a:xfrm>
          <a:prstGeom prst="rect">
            <a:avLst/>
          </a:prstGeom>
          <a:noFill/>
          <a:ln/>
        </p:spPr>
        <p:txBody>
          <a:bodyPr wrap="square" lIns="0" tIns="0" rIns="0" bIns="0" rtlCol="0" anchor="ctr"/>
          <a:lstStyle/>
          <a:p>
            <a:pPr indent="0" marL="0">
              <a:buNone/>
            </a:pPr>
            <a:r>
              <a:rPr lang="en-US" sz="3000" b="1" dirty="0">
                <a:solidFill>
                  <a:srgbClr val="F26A2B"/>
                </a:solidFill>
                <a:latin typeface="Arial" pitchFamily="34" charset="0"/>
                <a:ea typeface="Arial" pitchFamily="34" charset="-122"/>
                <a:cs typeface="Arial" pitchFamily="34" charset="-120"/>
              </a:rPr>
              <a:t>2</a:t>
            </a:r>
            <a:endParaRPr lang="en-US" sz="3000" dirty="0"/>
          </a:p>
        </p:txBody>
      </p:sp>
      <p:sp>
        <p:nvSpPr>
          <p:cNvPr id="23" name="Text 21"/>
          <p:cNvSpPr/>
          <p:nvPr/>
        </p:nvSpPr>
        <p:spPr>
          <a:xfrm>
            <a:off x="3630168" y="4800600"/>
            <a:ext cx="2194560" cy="640080"/>
          </a:xfrm>
          <a:prstGeom prst="rect">
            <a:avLst/>
          </a:prstGeom>
          <a:noFill/>
          <a:ln/>
        </p:spPr>
        <p:txBody>
          <a:bodyPr wrap="square" lIns="0" tIns="0" rIns="0" bIns="0" rtlCol="0" anchor="ctr"/>
          <a:lstStyle/>
          <a:p>
            <a:pPr indent="0" marL="0">
              <a:lnSpc>
                <a:spcPct val="98000"/>
              </a:lnSpc>
              <a:buNone/>
            </a:pPr>
            <a:r>
              <a:rPr lang="en-US" sz="1550" b="1" dirty="0">
                <a:solidFill>
                  <a:srgbClr val="F4F1EA"/>
                </a:solidFill>
                <a:latin typeface="Calibri" pitchFamily="34" charset="0"/>
                <a:ea typeface="Calibri" pitchFamily="34" charset="-122"/>
                <a:cs typeface="Calibri" pitchFamily="34" charset="-120"/>
              </a:rPr>
              <a:t>One row / game</a:t>
            </a:r>
            <a:endParaRPr lang="en-US" sz="1550" dirty="0"/>
          </a:p>
        </p:txBody>
      </p:sp>
      <p:sp>
        <p:nvSpPr>
          <p:cNvPr id="24" name="Text 22"/>
          <p:cNvSpPr/>
          <p:nvPr/>
        </p:nvSpPr>
        <p:spPr>
          <a:xfrm>
            <a:off x="3630168" y="5440680"/>
            <a:ext cx="2240280" cy="548640"/>
          </a:xfrm>
          <a:prstGeom prst="rect">
            <a:avLst/>
          </a:prstGeom>
          <a:noFill/>
          <a:ln/>
        </p:spPr>
        <p:txBody>
          <a:bodyPr wrap="square" lIns="0" tIns="0" rIns="0" bIns="0" rtlCol="0" anchor="ctr"/>
          <a:lstStyle/>
          <a:p>
            <a:pPr indent="0" marL="0">
              <a:lnSpc>
                <a:spcPct val="100000"/>
              </a:lnSpc>
              <a:buNone/>
            </a:pPr>
            <a:r>
              <a:rPr lang="en-US" sz="1150" dirty="0">
                <a:solidFill>
                  <a:srgbClr val="93A1B6"/>
                </a:solidFill>
                <a:latin typeface="Calibri" pitchFamily="34" charset="0"/>
                <a:ea typeface="Calibri" pitchFamily="34" charset="-122"/>
                <a:cs typeface="Calibri" pitchFamily="34" charset="-120"/>
              </a:rPr>
              <a:t>home vs away, from MATCHUP</a:t>
            </a:r>
            <a:endParaRPr lang="en-US" sz="1150" dirty="0"/>
          </a:p>
        </p:txBody>
      </p:sp>
      <p:sp>
        <p:nvSpPr>
          <p:cNvPr id="25" name="Text 23"/>
          <p:cNvSpPr/>
          <p:nvPr/>
        </p:nvSpPr>
        <p:spPr>
          <a:xfrm>
            <a:off x="5943600" y="4572000"/>
            <a:ext cx="365760" cy="640080"/>
          </a:xfrm>
          <a:prstGeom prst="rect">
            <a:avLst/>
          </a:prstGeom>
          <a:noFill/>
          <a:ln/>
        </p:spPr>
        <p:txBody>
          <a:bodyPr wrap="square" lIns="0" tIns="0" rIns="0" bIns="0" rtlCol="0" anchor="ctr"/>
          <a:lstStyle/>
          <a:p>
            <a:pPr algn="ctr" indent="0" marL="0">
              <a:buNone/>
            </a:pPr>
            <a:r>
              <a:rPr lang="en-US" sz="3000" dirty="0">
                <a:solidFill>
                  <a:srgbClr val="F26A2B"/>
                </a:solidFill>
                <a:latin typeface="Arial" pitchFamily="34" charset="0"/>
                <a:ea typeface="Arial" pitchFamily="34" charset="-122"/>
                <a:cs typeface="Arial" pitchFamily="34" charset="-120"/>
              </a:rPr>
              <a:t>›</a:t>
            </a:r>
            <a:endParaRPr lang="en-US" sz="3000" dirty="0"/>
          </a:p>
        </p:txBody>
      </p:sp>
      <p:sp>
        <p:nvSpPr>
          <p:cNvPr id="26" name="Shape 24"/>
          <p:cNvSpPr/>
          <p:nvPr/>
        </p:nvSpPr>
        <p:spPr>
          <a:xfrm>
            <a:off x="6163056" y="3886200"/>
            <a:ext cx="2615184" cy="2148840"/>
          </a:xfrm>
          <a:prstGeom prst="roundRect">
            <a:avLst>
              <a:gd name="adj" fmla="val 3830"/>
            </a:avLst>
          </a:prstGeom>
          <a:solidFill>
            <a:srgbClr val="16294A"/>
          </a:solidFill>
          <a:ln/>
          <a:effectLst>
            <a:outerShdw sx="100000" sy="100000" kx="0" ky="0" algn="bl" rotWithShape="0" blurRad="114300" dist="38100" dir="5400000">
              <a:srgbClr val="000000">
                <a:alpha val="30000"/>
              </a:srgbClr>
            </a:outerShdw>
          </a:effectLst>
        </p:spPr>
      </p:sp>
      <p:sp>
        <p:nvSpPr>
          <p:cNvPr id="27" name="Text 25"/>
          <p:cNvSpPr/>
          <p:nvPr/>
        </p:nvSpPr>
        <p:spPr>
          <a:xfrm>
            <a:off x="6391656" y="4114800"/>
            <a:ext cx="731520" cy="640080"/>
          </a:xfrm>
          <a:prstGeom prst="rect">
            <a:avLst/>
          </a:prstGeom>
          <a:noFill/>
          <a:ln/>
        </p:spPr>
        <p:txBody>
          <a:bodyPr wrap="square" lIns="0" tIns="0" rIns="0" bIns="0" rtlCol="0" anchor="ctr"/>
          <a:lstStyle/>
          <a:p>
            <a:pPr indent="0" marL="0">
              <a:buNone/>
            </a:pPr>
            <a:r>
              <a:rPr lang="en-US" sz="3000" b="1" dirty="0">
                <a:solidFill>
                  <a:srgbClr val="F26A2B"/>
                </a:solidFill>
                <a:latin typeface="Arial" pitchFamily="34" charset="0"/>
                <a:ea typeface="Arial" pitchFamily="34" charset="-122"/>
                <a:cs typeface="Arial" pitchFamily="34" charset="-120"/>
              </a:rPr>
              <a:t>3</a:t>
            </a:r>
            <a:endParaRPr lang="en-US" sz="3000" dirty="0"/>
          </a:p>
        </p:txBody>
      </p:sp>
      <p:sp>
        <p:nvSpPr>
          <p:cNvPr id="28" name="Text 26"/>
          <p:cNvSpPr/>
          <p:nvPr/>
        </p:nvSpPr>
        <p:spPr>
          <a:xfrm>
            <a:off x="6391656" y="4800600"/>
            <a:ext cx="2194560" cy="640080"/>
          </a:xfrm>
          <a:prstGeom prst="rect">
            <a:avLst/>
          </a:prstGeom>
          <a:noFill/>
          <a:ln/>
        </p:spPr>
        <p:txBody>
          <a:bodyPr wrap="square" lIns="0" tIns="0" rIns="0" bIns="0" rtlCol="0" anchor="ctr"/>
          <a:lstStyle/>
          <a:p>
            <a:pPr indent="0" marL="0">
              <a:lnSpc>
                <a:spcPct val="98000"/>
              </a:lnSpc>
              <a:buNone/>
            </a:pPr>
            <a:r>
              <a:rPr lang="en-US" sz="1550" b="1" dirty="0">
                <a:solidFill>
                  <a:srgbClr val="F4F1EA"/>
                </a:solidFill>
                <a:latin typeface="Calibri" pitchFamily="34" charset="0"/>
                <a:ea typeface="Calibri" pitchFamily="34" charset="-122"/>
                <a:cs typeface="Calibri" pitchFamily="34" charset="-120"/>
              </a:rPr>
              <a:t>Rolling L5 &amp; L10 form</a:t>
            </a:r>
            <a:endParaRPr lang="en-US" sz="1550" dirty="0"/>
          </a:p>
        </p:txBody>
      </p:sp>
      <p:sp>
        <p:nvSpPr>
          <p:cNvPr id="29" name="Text 27"/>
          <p:cNvSpPr/>
          <p:nvPr/>
        </p:nvSpPr>
        <p:spPr>
          <a:xfrm>
            <a:off x="6391656" y="5440680"/>
            <a:ext cx="2240280" cy="548640"/>
          </a:xfrm>
          <a:prstGeom prst="rect">
            <a:avLst/>
          </a:prstGeom>
          <a:noFill/>
          <a:ln/>
        </p:spPr>
        <p:txBody>
          <a:bodyPr wrap="square" lIns="0" tIns="0" rIns="0" bIns="0" rtlCol="0" anchor="ctr"/>
          <a:lstStyle/>
          <a:p>
            <a:pPr indent="0" marL="0">
              <a:lnSpc>
                <a:spcPct val="100000"/>
              </a:lnSpc>
              <a:buNone/>
            </a:pPr>
            <a:r>
              <a:rPr lang="en-US" sz="1150" dirty="0">
                <a:solidFill>
                  <a:srgbClr val="93A1B6"/>
                </a:solidFill>
                <a:latin typeface="Calibri" pitchFamily="34" charset="0"/>
                <a:ea typeface="Calibri" pitchFamily="34" charset="-122"/>
                <a:cs typeface="Calibri" pitchFamily="34" charset="-120"/>
              </a:rPr>
              <a:t>shift(1) — no peeking ahead</a:t>
            </a:r>
            <a:endParaRPr lang="en-US" sz="1150" dirty="0"/>
          </a:p>
        </p:txBody>
      </p:sp>
      <p:sp>
        <p:nvSpPr>
          <p:cNvPr id="30" name="Text 28"/>
          <p:cNvSpPr/>
          <p:nvPr/>
        </p:nvSpPr>
        <p:spPr>
          <a:xfrm>
            <a:off x="8705088" y="4572000"/>
            <a:ext cx="365760" cy="640080"/>
          </a:xfrm>
          <a:prstGeom prst="rect">
            <a:avLst/>
          </a:prstGeom>
          <a:noFill/>
          <a:ln/>
        </p:spPr>
        <p:txBody>
          <a:bodyPr wrap="square" lIns="0" tIns="0" rIns="0" bIns="0" rtlCol="0" anchor="ctr"/>
          <a:lstStyle/>
          <a:p>
            <a:pPr algn="ctr" indent="0" marL="0">
              <a:buNone/>
            </a:pPr>
            <a:r>
              <a:rPr lang="en-US" sz="3000" dirty="0">
                <a:solidFill>
                  <a:srgbClr val="F26A2B"/>
                </a:solidFill>
                <a:latin typeface="Arial" pitchFamily="34" charset="0"/>
                <a:ea typeface="Arial" pitchFamily="34" charset="-122"/>
                <a:cs typeface="Arial" pitchFamily="34" charset="-120"/>
              </a:rPr>
              <a:t>›</a:t>
            </a:r>
            <a:endParaRPr lang="en-US" sz="3000" dirty="0"/>
          </a:p>
        </p:txBody>
      </p:sp>
      <p:sp>
        <p:nvSpPr>
          <p:cNvPr id="31" name="Shape 29"/>
          <p:cNvSpPr/>
          <p:nvPr/>
        </p:nvSpPr>
        <p:spPr>
          <a:xfrm>
            <a:off x="8924544" y="3886200"/>
            <a:ext cx="2615184" cy="2148840"/>
          </a:xfrm>
          <a:prstGeom prst="roundRect">
            <a:avLst>
              <a:gd name="adj" fmla="val 3830"/>
            </a:avLst>
          </a:prstGeom>
          <a:solidFill>
            <a:srgbClr val="16294A"/>
          </a:solidFill>
          <a:ln/>
          <a:effectLst>
            <a:outerShdw sx="100000" sy="100000" kx="0" ky="0" algn="bl" rotWithShape="0" blurRad="114300" dist="38100" dir="5400000">
              <a:srgbClr val="000000">
                <a:alpha val="30000"/>
              </a:srgbClr>
            </a:outerShdw>
          </a:effectLst>
        </p:spPr>
      </p:sp>
      <p:sp>
        <p:nvSpPr>
          <p:cNvPr id="32" name="Text 30"/>
          <p:cNvSpPr/>
          <p:nvPr/>
        </p:nvSpPr>
        <p:spPr>
          <a:xfrm>
            <a:off x="9153144" y="4114800"/>
            <a:ext cx="731520" cy="640080"/>
          </a:xfrm>
          <a:prstGeom prst="rect">
            <a:avLst/>
          </a:prstGeom>
          <a:noFill/>
          <a:ln/>
        </p:spPr>
        <p:txBody>
          <a:bodyPr wrap="square" lIns="0" tIns="0" rIns="0" bIns="0" rtlCol="0" anchor="ctr"/>
          <a:lstStyle/>
          <a:p>
            <a:pPr indent="0" marL="0">
              <a:buNone/>
            </a:pPr>
            <a:r>
              <a:rPr lang="en-US" sz="3000" b="1" dirty="0">
                <a:solidFill>
                  <a:srgbClr val="F26A2B"/>
                </a:solidFill>
                <a:latin typeface="Arial" pitchFamily="34" charset="0"/>
                <a:ea typeface="Arial" pitchFamily="34" charset="-122"/>
                <a:cs typeface="Arial" pitchFamily="34" charset="-120"/>
              </a:rPr>
              <a:t>4</a:t>
            </a:r>
            <a:endParaRPr lang="en-US" sz="3000" dirty="0"/>
          </a:p>
        </p:txBody>
      </p:sp>
      <p:sp>
        <p:nvSpPr>
          <p:cNvPr id="33" name="Text 31"/>
          <p:cNvSpPr/>
          <p:nvPr/>
        </p:nvSpPr>
        <p:spPr>
          <a:xfrm>
            <a:off x="9153144" y="4800600"/>
            <a:ext cx="2194560" cy="640080"/>
          </a:xfrm>
          <a:prstGeom prst="rect">
            <a:avLst/>
          </a:prstGeom>
          <a:noFill/>
          <a:ln/>
        </p:spPr>
        <p:txBody>
          <a:bodyPr wrap="square" lIns="0" tIns="0" rIns="0" bIns="0" rtlCol="0" anchor="ctr"/>
          <a:lstStyle/>
          <a:p>
            <a:pPr indent="0" marL="0">
              <a:lnSpc>
                <a:spcPct val="98000"/>
              </a:lnSpc>
              <a:buNone/>
            </a:pPr>
            <a:r>
              <a:rPr lang="en-US" sz="1550" b="1" dirty="0">
                <a:solidFill>
                  <a:srgbClr val="F4F1EA"/>
                </a:solidFill>
                <a:latin typeface="Calibri" pitchFamily="34" charset="0"/>
                <a:ea typeface="Calibri" pitchFamily="34" charset="-122"/>
                <a:cs typeface="Calibri" pitchFamily="34" charset="-120"/>
              </a:rPr>
              <a:t>Time-based split</a:t>
            </a:r>
            <a:endParaRPr lang="en-US" sz="1550" dirty="0"/>
          </a:p>
        </p:txBody>
      </p:sp>
      <p:sp>
        <p:nvSpPr>
          <p:cNvPr id="34" name="Text 32"/>
          <p:cNvSpPr/>
          <p:nvPr/>
        </p:nvSpPr>
        <p:spPr>
          <a:xfrm>
            <a:off x="9153144" y="5440680"/>
            <a:ext cx="2240280" cy="548640"/>
          </a:xfrm>
          <a:prstGeom prst="rect">
            <a:avLst/>
          </a:prstGeom>
          <a:noFill/>
          <a:ln/>
        </p:spPr>
        <p:txBody>
          <a:bodyPr wrap="square" lIns="0" tIns="0" rIns="0" bIns="0" rtlCol="0" anchor="ctr"/>
          <a:lstStyle/>
          <a:p>
            <a:pPr indent="0" marL="0">
              <a:lnSpc>
                <a:spcPct val="100000"/>
              </a:lnSpc>
              <a:buNone/>
            </a:pPr>
            <a:r>
              <a:rPr lang="en-US" sz="1150" dirty="0">
                <a:solidFill>
                  <a:srgbClr val="93A1B6"/>
                </a:solidFill>
                <a:latin typeface="Calibri" pitchFamily="34" charset="0"/>
                <a:ea typeface="Calibri" pitchFamily="34" charset="-122"/>
                <a:cs typeface="Calibri" pitchFamily="34" charset="-120"/>
              </a:rPr>
              <a:t>train · validation · test by season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04 · THE CORE FINDING</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An 87% model was lying. Fixing it gave 63%.</a:t>
            </a:r>
            <a:endParaRPr lang="en-US" sz="3200" dirty="0"/>
          </a:p>
        </p:txBody>
      </p:sp>
      <p:sp>
        <p:nvSpPr>
          <p:cNvPr id="4" name="Shape 2"/>
          <p:cNvSpPr/>
          <p:nvPr/>
        </p:nvSpPr>
        <p:spPr>
          <a:xfrm>
            <a:off x="640080" y="1920240"/>
            <a:ext cx="3246120" cy="4114800"/>
          </a:xfrm>
          <a:prstGeom prst="roundRect">
            <a:avLst>
              <a:gd name="adj" fmla="val 2535"/>
            </a:avLst>
          </a:prstGeom>
          <a:solidFill>
            <a:srgbClr val="13243B"/>
          </a:solidFill>
          <a:ln/>
          <a:effectLst>
            <a:outerShdw sx="100000" sy="100000" kx="0" ky="0" algn="bl" rotWithShape="0" blurRad="114300" dist="38100" dir="5400000">
              <a:srgbClr val="000000">
                <a:alpha val="30000"/>
              </a:srgbClr>
            </a:outerShdw>
          </a:effectLst>
        </p:spPr>
      </p:sp>
      <p:sp>
        <p:nvSpPr>
          <p:cNvPr id="5" name="Text 3"/>
          <p:cNvSpPr/>
          <p:nvPr/>
        </p:nvSpPr>
        <p:spPr>
          <a:xfrm>
            <a:off x="640080" y="2286000"/>
            <a:ext cx="3246120" cy="914400"/>
          </a:xfrm>
          <a:prstGeom prst="rect">
            <a:avLst/>
          </a:prstGeom>
          <a:noFill/>
          <a:ln/>
        </p:spPr>
        <p:txBody>
          <a:bodyPr wrap="square" lIns="0" tIns="0" rIns="0" bIns="0" rtlCol="0" anchor="ctr"/>
          <a:lstStyle/>
          <a:p>
            <a:pPr algn="ctr" indent="0" marL="0">
              <a:buNone/>
            </a:pPr>
            <a:r>
              <a:rPr lang="en-US" sz="4600" b="1" dirty="0">
                <a:solidFill>
                  <a:srgbClr val="FF5A5A"/>
                </a:solidFill>
                <a:latin typeface="Arial" pitchFamily="34" charset="0"/>
                <a:ea typeface="Arial" pitchFamily="34" charset="-122"/>
                <a:cs typeface="Arial" pitchFamily="34" charset="-120"/>
              </a:rPr>
              <a:t>87–88%</a:t>
            </a:r>
            <a:endParaRPr lang="en-US" sz="4600" dirty="0"/>
          </a:p>
        </p:txBody>
      </p:sp>
      <p:sp>
        <p:nvSpPr>
          <p:cNvPr id="6" name="Text 4"/>
          <p:cNvSpPr/>
          <p:nvPr/>
        </p:nvSpPr>
        <p:spPr>
          <a:xfrm>
            <a:off x="640080" y="3200400"/>
            <a:ext cx="3246120" cy="320040"/>
          </a:xfrm>
          <a:prstGeom prst="rect">
            <a:avLst/>
          </a:prstGeom>
          <a:noFill/>
          <a:ln/>
        </p:spPr>
        <p:txBody>
          <a:bodyPr wrap="square" lIns="0" tIns="0" rIns="0" bIns="0" rtlCol="0" anchor="ctr"/>
          <a:lstStyle/>
          <a:p>
            <a:pPr algn="ctr" indent="0" marL="0">
              <a:buNone/>
            </a:pPr>
            <a:r>
              <a:rPr lang="en-US" sz="1300" b="1" spc="300" kern="0" dirty="0">
                <a:solidFill>
                  <a:srgbClr val="FF5A5A"/>
                </a:solidFill>
                <a:latin typeface="Calibri" pitchFamily="34" charset="0"/>
                <a:ea typeface="Calibri" pitchFamily="34" charset="-122"/>
                <a:cs typeface="Calibri" pitchFamily="34" charset="-120"/>
              </a:rPr>
              <a:t>LEAKED</a:t>
            </a:r>
            <a:endParaRPr lang="en-US" sz="1300" dirty="0"/>
          </a:p>
        </p:txBody>
      </p:sp>
      <p:sp>
        <p:nvSpPr>
          <p:cNvPr id="7" name="Text 5"/>
          <p:cNvSpPr/>
          <p:nvPr/>
        </p:nvSpPr>
        <p:spPr>
          <a:xfrm>
            <a:off x="868680" y="3657600"/>
            <a:ext cx="2834640" cy="2194560"/>
          </a:xfrm>
          <a:prstGeom prst="rect">
            <a:avLst/>
          </a:prstGeom>
          <a:noFill/>
          <a:ln/>
        </p:spPr>
        <p:txBody>
          <a:bodyPr wrap="square" lIns="0" tIns="0" rIns="0" bIns="0" rtlCol="0" anchor="ctr"/>
          <a:lstStyle/>
          <a:p>
            <a:pPr indent="0" marL="0">
              <a:lnSpc>
                <a:spcPct val="115000"/>
              </a:lnSpc>
              <a:buNone/>
            </a:pPr>
            <a:r>
              <a:rPr lang="en-US" sz="1300" b="1" dirty="0">
                <a:solidFill>
                  <a:srgbClr val="F4F1EA"/>
                </a:solidFill>
                <a:latin typeface="Calibri" pitchFamily="34" charset="0"/>
                <a:ea typeface="Calibri" pitchFamily="34" charset="-122"/>
                <a:cs typeface="Calibri" pitchFamily="34" charset="-120"/>
              </a:rPr>
              <a:t>Two features secretly encoded the result:</a:t>
            </a:r>
            <a:endParaRPr lang="en-US" sz="1300" dirty="0"/>
          </a:p>
          <a:p>
            <a:pPr indent="0" marL="0">
              <a:lnSpc>
                <a:spcPct val="115000"/>
              </a:lnSpc>
              <a:buNone/>
            </a:pPr>
            <a:r>
              <a:rPr lang="en-US" sz="1300" dirty="0">
                <a:solidFill>
                  <a:srgbClr val="C7D0DD"/>
                </a:solidFill>
                <a:latin typeface="Calibri" pitchFamily="34" charset="0"/>
                <a:ea typeface="Calibri" pitchFamily="34" charset="-122"/>
                <a:cs typeface="Calibri" pitchFamily="34" charset="-120"/>
              </a:rPr>
              <a:t>• cumulative season win% — a proxy for final standings</a:t>
            </a:r>
            <a:endParaRPr lang="en-US" sz="1300" dirty="0"/>
          </a:p>
          <a:p>
            <a:pPr indent="0" marL="0">
              <a:lnSpc>
                <a:spcPct val="115000"/>
              </a:lnSpc>
              <a:buNone/>
            </a:pPr>
            <a:r>
              <a:rPr lang="en-US" sz="1300" dirty="0">
                <a:solidFill>
                  <a:srgbClr val="C7D0DD"/>
                </a:solidFill>
                <a:latin typeface="Calibri" pitchFamily="34" charset="0"/>
                <a:ea typeface="Calibri" pitchFamily="34" charset="-122"/>
                <a:cs typeface="Calibri" pitchFamily="34" charset="-120"/>
              </a:rPr>
              <a:t>• head-to-head win% with |r| = 0.83 to the outcome</a:t>
            </a:r>
            <a:endParaRPr lang="en-US" sz="1300" dirty="0"/>
          </a:p>
        </p:txBody>
      </p:sp>
      <p:sp>
        <p:nvSpPr>
          <p:cNvPr id="8" name="Text 6"/>
          <p:cNvSpPr/>
          <p:nvPr/>
        </p:nvSpPr>
        <p:spPr>
          <a:xfrm>
            <a:off x="3977640" y="3383280"/>
            <a:ext cx="822960" cy="914400"/>
          </a:xfrm>
          <a:prstGeom prst="rect">
            <a:avLst/>
          </a:prstGeom>
          <a:noFill/>
          <a:ln/>
        </p:spPr>
        <p:txBody>
          <a:bodyPr wrap="square" lIns="0" tIns="0" rIns="0" bIns="0" rtlCol="0" anchor="ctr"/>
          <a:lstStyle/>
          <a:p>
            <a:pPr algn="ctr" indent="0" marL="0">
              <a:buNone/>
            </a:pPr>
            <a:r>
              <a:rPr lang="en-US" sz="5400" b="1" dirty="0">
                <a:solidFill>
                  <a:srgbClr val="F26A2B"/>
                </a:solidFill>
                <a:latin typeface="Arial" pitchFamily="34" charset="0"/>
                <a:ea typeface="Arial" pitchFamily="34" charset="-122"/>
                <a:cs typeface="Arial" pitchFamily="34" charset="-120"/>
              </a:rPr>
              <a:t>›</a:t>
            </a:r>
            <a:endParaRPr lang="en-US" sz="5400" dirty="0"/>
          </a:p>
        </p:txBody>
      </p:sp>
      <p:sp>
        <p:nvSpPr>
          <p:cNvPr id="9" name="Shape 7"/>
          <p:cNvSpPr/>
          <p:nvPr/>
        </p:nvSpPr>
        <p:spPr>
          <a:xfrm>
            <a:off x="4846320" y="1920240"/>
            <a:ext cx="3246120" cy="4114800"/>
          </a:xfrm>
          <a:prstGeom prst="roundRect">
            <a:avLst>
              <a:gd name="adj" fmla="val 2535"/>
            </a:avLst>
          </a:prstGeom>
          <a:solidFill>
            <a:srgbClr val="13243B"/>
          </a:solidFill>
          <a:ln/>
          <a:effectLst>
            <a:outerShdw sx="100000" sy="100000" kx="0" ky="0" algn="bl" rotWithShape="0" blurRad="114300" dist="38100" dir="5400000">
              <a:srgbClr val="000000">
                <a:alpha val="30000"/>
              </a:srgbClr>
            </a:outerShdw>
          </a:effectLst>
        </p:spPr>
      </p:sp>
      <p:sp>
        <p:nvSpPr>
          <p:cNvPr id="10" name="Text 8"/>
          <p:cNvSpPr/>
          <p:nvPr/>
        </p:nvSpPr>
        <p:spPr>
          <a:xfrm>
            <a:off x="4846320" y="2286000"/>
            <a:ext cx="3246120" cy="914400"/>
          </a:xfrm>
          <a:prstGeom prst="rect">
            <a:avLst/>
          </a:prstGeom>
          <a:noFill/>
          <a:ln/>
        </p:spPr>
        <p:txBody>
          <a:bodyPr wrap="square" lIns="0" tIns="0" rIns="0" bIns="0" rtlCol="0" anchor="ctr"/>
          <a:lstStyle/>
          <a:p>
            <a:pPr algn="ctr" indent="0" marL="0">
              <a:buNone/>
            </a:pPr>
            <a:r>
              <a:rPr lang="en-US" sz="4600" b="1" dirty="0">
                <a:solidFill>
                  <a:srgbClr val="37C2A4"/>
                </a:solidFill>
                <a:latin typeface="Arial" pitchFamily="34" charset="0"/>
                <a:ea typeface="Arial" pitchFamily="34" charset="-122"/>
                <a:cs typeface="Arial" pitchFamily="34" charset="-120"/>
              </a:rPr>
              <a:t>62.9%</a:t>
            </a:r>
            <a:endParaRPr lang="en-US" sz="4600" dirty="0"/>
          </a:p>
        </p:txBody>
      </p:sp>
      <p:sp>
        <p:nvSpPr>
          <p:cNvPr id="11" name="Text 9"/>
          <p:cNvSpPr/>
          <p:nvPr/>
        </p:nvSpPr>
        <p:spPr>
          <a:xfrm>
            <a:off x="4846320" y="3200400"/>
            <a:ext cx="3246120" cy="320040"/>
          </a:xfrm>
          <a:prstGeom prst="rect">
            <a:avLst/>
          </a:prstGeom>
          <a:noFill/>
          <a:ln/>
        </p:spPr>
        <p:txBody>
          <a:bodyPr wrap="square" lIns="0" tIns="0" rIns="0" bIns="0" rtlCol="0" anchor="ctr"/>
          <a:lstStyle/>
          <a:p>
            <a:pPr algn="ctr" indent="0" marL="0">
              <a:buNone/>
            </a:pPr>
            <a:r>
              <a:rPr lang="en-US" sz="1300" b="1" spc="300" kern="0" dirty="0">
                <a:solidFill>
                  <a:srgbClr val="37C2A4"/>
                </a:solidFill>
                <a:latin typeface="Calibri" pitchFamily="34" charset="0"/>
                <a:ea typeface="Calibri" pitchFamily="34" charset="-122"/>
                <a:cs typeface="Calibri" pitchFamily="34" charset="-120"/>
              </a:rPr>
              <a:t>HONEST</a:t>
            </a:r>
            <a:endParaRPr lang="en-US" sz="1300" dirty="0"/>
          </a:p>
        </p:txBody>
      </p:sp>
      <p:sp>
        <p:nvSpPr>
          <p:cNvPr id="12" name="Text 10"/>
          <p:cNvSpPr/>
          <p:nvPr/>
        </p:nvSpPr>
        <p:spPr>
          <a:xfrm>
            <a:off x="5074920" y="3657600"/>
            <a:ext cx="2834640" cy="2194560"/>
          </a:xfrm>
          <a:prstGeom prst="rect">
            <a:avLst/>
          </a:prstGeom>
          <a:noFill/>
          <a:ln/>
        </p:spPr>
        <p:txBody>
          <a:bodyPr wrap="square" lIns="0" tIns="0" rIns="0" bIns="0" rtlCol="0" anchor="ctr"/>
          <a:lstStyle/>
          <a:p>
            <a:pPr indent="0" marL="0">
              <a:lnSpc>
                <a:spcPct val="115000"/>
              </a:lnSpc>
              <a:buNone/>
            </a:pPr>
            <a:r>
              <a:rPr lang="en-US" sz="1300" b="1" dirty="0">
                <a:solidFill>
                  <a:srgbClr val="F4F1EA"/>
                </a:solidFill>
                <a:latin typeface="Calibri" pitchFamily="34" charset="0"/>
                <a:ea typeface="Calibri" pitchFamily="34" charset="-122"/>
                <a:cs typeface="Calibri" pitchFamily="34" charset="-120"/>
              </a:rPr>
              <a:t>Rebuilt time-safe:</a:t>
            </a:r>
            <a:endParaRPr lang="en-US" sz="1300" dirty="0"/>
          </a:p>
          <a:p>
            <a:pPr indent="0" marL="0">
              <a:lnSpc>
                <a:spcPct val="115000"/>
              </a:lnSpc>
              <a:buNone/>
            </a:pPr>
            <a:r>
              <a:rPr lang="en-US" sz="1300" dirty="0">
                <a:solidFill>
                  <a:srgbClr val="C7D0DD"/>
                </a:solidFill>
                <a:latin typeface="Calibri" pitchFamily="34" charset="0"/>
                <a:ea typeface="Calibri" pitchFamily="34" charset="-122"/>
                <a:cs typeface="Calibri" pitchFamily="34" charset="-120"/>
              </a:rPr>
              <a:t>• season win% removed; bounded L5/L10 windows only</a:t>
            </a:r>
            <a:endParaRPr lang="en-US" sz="1300" dirty="0"/>
          </a:p>
          <a:p>
            <a:pPr indent="0" marL="0">
              <a:lnSpc>
                <a:spcPct val="115000"/>
              </a:lnSpc>
              <a:buNone/>
            </a:pPr>
            <a:r>
              <a:rPr lang="en-US" sz="1300" dirty="0">
                <a:solidFill>
                  <a:srgbClr val="C7D0DD"/>
                </a:solidFill>
                <a:latin typeface="Calibri" pitchFamily="34" charset="0"/>
                <a:ea typeface="Calibri" pitchFamily="34" charset="-122"/>
                <a:cs typeface="Calibri" pitchFamily="34" charset="-120"/>
              </a:rPr>
              <a:t>• H2H recomputed as a shifted mean → |r| = 0.08</a:t>
            </a:r>
            <a:endParaRPr lang="en-US" sz="1300" dirty="0"/>
          </a:p>
          <a:p>
            <a:pPr indent="0" marL="0">
              <a:lnSpc>
                <a:spcPct val="115000"/>
              </a:lnSpc>
              <a:buNone/>
            </a:pPr>
            <a:r>
              <a:rPr lang="en-US" sz="1300" dirty="0">
                <a:solidFill>
                  <a:srgbClr val="C7D0DD"/>
                </a:solidFill>
                <a:latin typeface="Calibri" pitchFamily="34" charset="0"/>
                <a:ea typeface="Calibri" pitchFamily="34" charset="-122"/>
                <a:cs typeface="Calibri" pitchFamily="34" charset="-120"/>
              </a:rPr>
              <a:t>• audit: every feature |r| &lt; 0.40</a:t>
            </a:r>
            <a:endParaRPr lang="en-US" sz="1300" dirty="0"/>
          </a:p>
        </p:txBody>
      </p:sp>
      <p:sp>
        <p:nvSpPr>
          <p:cNvPr id="13" name="Shape 11"/>
          <p:cNvSpPr/>
          <p:nvPr/>
        </p:nvSpPr>
        <p:spPr>
          <a:xfrm>
            <a:off x="8229600" y="1920240"/>
            <a:ext cx="3291840" cy="4114800"/>
          </a:xfrm>
          <a:prstGeom prst="roundRect">
            <a:avLst>
              <a:gd name="adj" fmla="val 2500"/>
            </a:avLst>
          </a:prstGeom>
          <a:solidFill>
            <a:srgbClr val="16294A"/>
          </a:solidFill>
          <a:ln/>
          <a:effectLst>
            <a:outerShdw sx="100000" sy="100000" kx="0" ky="0" algn="bl" rotWithShape="0" blurRad="114300" dist="38100" dir="5400000">
              <a:srgbClr val="000000">
                <a:alpha val="30000"/>
              </a:srgbClr>
            </a:outerShdw>
          </a:effectLst>
        </p:spPr>
      </p:sp>
      <p:sp>
        <p:nvSpPr>
          <p:cNvPr id="14" name="Text 12"/>
          <p:cNvSpPr/>
          <p:nvPr/>
        </p:nvSpPr>
        <p:spPr>
          <a:xfrm>
            <a:off x="8458200" y="2194560"/>
            <a:ext cx="2834640" cy="365760"/>
          </a:xfrm>
          <a:prstGeom prst="rect">
            <a:avLst/>
          </a:prstGeom>
          <a:noFill/>
          <a:ln/>
        </p:spPr>
        <p:txBody>
          <a:bodyPr wrap="square" lIns="0" tIns="0" rIns="0" bIns="0" rtlCol="0" anchor="ctr"/>
          <a:lstStyle/>
          <a:p>
            <a:pPr indent="0" marL="0">
              <a:buNone/>
            </a:pPr>
            <a:r>
              <a:rPr lang="en-US" sz="1400" b="1" spc="200" kern="0" dirty="0">
                <a:solidFill>
                  <a:srgbClr val="F26A2B"/>
                </a:solidFill>
                <a:latin typeface="Calibri" pitchFamily="34" charset="0"/>
                <a:ea typeface="Calibri" pitchFamily="34" charset="-122"/>
                <a:cs typeface="Calibri" pitchFamily="34" charset="-120"/>
              </a:rPr>
              <a:t>The lesson</a:t>
            </a:r>
            <a:endParaRPr lang="en-US" sz="1400" dirty="0"/>
          </a:p>
        </p:txBody>
      </p:sp>
      <p:sp>
        <p:nvSpPr>
          <p:cNvPr id="15" name="Text 13"/>
          <p:cNvSpPr/>
          <p:nvPr/>
        </p:nvSpPr>
        <p:spPr>
          <a:xfrm>
            <a:off x="8458200" y="2651760"/>
            <a:ext cx="2880360" cy="1371600"/>
          </a:xfrm>
          <a:prstGeom prst="rect">
            <a:avLst/>
          </a:prstGeom>
          <a:noFill/>
          <a:ln/>
        </p:spPr>
        <p:txBody>
          <a:bodyPr wrap="square" lIns="0" tIns="0" rIns="0" bIns="0" rtlCol="0" anchor="ctr"/>
          <a:lstStyle/>
          <a:p>
            <a:pPr indent="0" marL="0">
              <a:lnSpc>
                <a:spcPct val="102000"/>
              </a:lnSpc>
              <a:buNone/>
            </a:pPr>
            <a:r>
              <a:rPr lang="en-US" sz="2100" b="1" dirty="0">
                <a:solidFill>
                  <a:srgbClr val="F4F1EA"/>
                </a:solidFill>
                <a:latin typeface="Arial" pitchFamily="34" charset="0"/>
                <a:ea typeface="Arial" pitchFamily="34" charset="-122"/>
                <a:cs typeface="Arial" pitchFamily="34" charset="-120"/>
              </a:rPr>
              <a:t>On temporal data, a score that looks too good is a symptom — not a success.</a:t>
            </a:r>
            <a:endParaRPr lang="en-US" sz="2100" dirty="0"/>
          </a:p>
        </p:txBody>
      </p:sp>
      <p:sp>
        <p:nvSpPr>
          <p:cNvPr id="16" name="Text 14"/>
          <p:cNvSpPr/>
          <p:nvPr/>
        </p:nvSpPr>
        <p:spPr>
          <a:xfrm>
            <a:off x="8458200" y="4297680"/>
            <a:ext cx="2880360" cy="1554480"/>
          </a:xfrm>
          <a:prstGeom prst="rect">
            <a:avLst/>
          </a:prstGeom>
          <a:noFill/>
          <a:ln/>
        </p:spPr>
        <p:txBody>
          <a:bodyPr wrap="square" lIns="0" tIns="0" rIns="0" bIns="0" rtlCol="0" anchor="ctr"/>
          <a:lstStyle/>
          <a:p>
            <a:pPr indent="0" marL="0">
              <a:lnSpc>
                <a:spcPct val="112000"/>
              </a:lnSpc>
              <a:buNone/>
            </a:pPr>
            <a:r>
              <a:rPr lang="en-US" sz="1400" dirty="0">
                <a:solidFill>
                  <a:srgbClr val="C7D0DD"/>
                </a:solidFill>
                <a:latin typeface="Calibri" pitchFamily="34" charset="0"/>
                <a:ea typeface="Calibri" pitchFamily="34" charset="-122"/>
                <a:cs typeface="Calibri" pitchFamily="34" charset="-120"/>
              </a:rPr>
              <a:t>The right reaction to 90% here is suspicion: which feature is encoding the answer?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05 · THE MODEL</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Wide &amp; Deep: memorize and generalize</a:t>
            </a:r>
            <a:endParaRPr lang="en-US" sz="3200" dirty="0"/>
          </a:p>
        </p:txBody>
      </p:sp>
      <p:sp>
        <p:nvSpPr>
          <p:cNvPr id="4" name="Shape 2"/>
          <p:cNvSpPr/>
          <p:nvPr/>
        </p:nvSpPr>
        <p:spPr>
          <a:xfrm>
            <a:off x="640080" y="2377440"/>
            <a:ext cx="2011680" cy="1463040"/>
          </a:xfrm>
          <a:prstGeom prst="roundRect">
            <a:avLst>
              <a:gd name="adj" fmla="val 5625"/>
            </a:avLst>
          </a:prstGeom>
          <a:solidFill>
            <a:srgbClr val="16294A"/>
          </a:solidFill>
          <a:ln/>
          <a:effectLst>
            <a:outerShdw sx="100000" sy="100000" kx="0" ky="0" algn="bl" rotWithShape="0" blurRad="114300" dist="38100" dir="5400000">
              <a:srgbClr val="000000">
                <a:alpha val="30000"/>
              </a:srgbClr>
            </a:outerShdw>
          </a:effectLst>
        </p:spPr>
      </p:sp>
      <p:sp>
        <p:nvSpPr>
          <p:cNvPr id="5" name="Text 3"/>
          <p:cNvSpPr/>
          <p:nvPr/>
        </p:nvSpPr>
        <p:spPr>
          <a:xfrm>
            <a:off x="640080" y="2743200"/>
            <a:ext cx="2011680" cy="457200"/>
          </a:xfrm>
          <a:prstGeom prst="rect">
            <a:avLst/>
          </a:prstGeom>
          <a:noFill/>
          <a:ln/>
        </p:spPr>
        <p:txBody>
          <a:bodyPr wrap="square" lIns="0" tIns="0" rIns="0" bIns="0" rtlCol="0" anchor="ctr"/>
          <a:lstStyle/>
          <a:p>
            <a:pPr algn="ctr" indent="0" marL="0">
              <a:buNone/>
            </a:pPr>
            <a:r>
              <a:rPr lang="en-US" sz="1600" b="1" dirty="0">
                <a:solidFill>
                  <a:srgbClr val="F4F1EA"/>
                </a:solidFill>
                <a:latin typeface="Calibri" pitchFamily="34" charset="0"/>
                <a:ea typeface="Calibri" pitchFamily="34" charset="-122"/>
                <a:cs typeface="Calibri" pitchFamily="34" charset="-120"/>
              </a:rPr>
              <a:t>64 features</a:t>
            </a:r>
            <a:endParaRPr lang="en-US" sz="1600" dirty="0"/>
          </a:p>
        </p:txBody>
      </p:sp>
      <p:sp>
        <p:nvSpPr>
          <p:cNvPr id="6" name="Text 4"/>
          <p:cNvSpPr/>
          <p:nvPr/>
        </p:nvSpPr>
        <p:spPr>
          <a:xfrm>
            <a:off x="640080" y="3200400"/>
            <a:ext cx="2011680" cy="365760"/>
          </a:xfrm>
          <a:prstGeom prst="rect">
            <a:avLst/>
          </a:prstGeom>
          <a:noFill/>
          <a:ln/>
        </p:spPr>
        <p:txBody>
          <a:bodyPr wrap="square" lIns="0" tIns="0" rIns="0" bIns="0" rtlCol="0" anchor="ctr"/>
          <a:lstStyle/>
          <a:p>
            <a:pPr algn="ctr" indent="0" marL="0">
              <a:buNone/>
            </a:pPr>
            <a:r>
              <a:rPr lang="en-US" sz="1200" dirty="0">
                <a:solidFill>
                  <a:srgbClr val="93A1B6"/>
                </a:solidFill>
                <a:latin typeface="Calibri" pitchFamily="34" charset="0"/>
                <a:ea typeface="Calibri" pitchFamily="34" charset="-122"/>
                <a:cs typeface="Calibri" pitchFamily="34" charset="-120"/>
              </a:rPr>
              <a:t>rolling form</a:t>
            </a:r>
            <a:endParaRPr lang="en-US" sz="1200" dirty="0"/>
          </a:p>
        </p:txBody>
      </p:sp>
      <p:sp>
        <p:nvSpPr>
          <p:cNvPr id="7" name="Shape 5"/>
          <p:cNvSpPr/>
          <p:nvPr/>
        </p:nvSpPr>
        <p:spPr>
          <a:xfrm>
            <a:off x="3657600" y="1737360"/>
            <a:ext cx="3840480" cy="1325880"/>
          </a:xfrm>
          <a:prstGeom prst="roundRect">
            <a:avLst>
              <a:gd name="adj" fmla="val 6207"/>
            </a:avLst>
          </a:prstGeom>
          <a:solidFill>
            <a:srgbClr val="13243B"/>
          </a:solidFill>
          <a:ln/>
          <a:effectLst>
            <a:outerShdw sx="100000" sy="100000" kx="0" ky="0" algn="bl" rotWithShape="0" blurRad="114300" dist="38100" dir="5400000">
              <a:srgbClr val="000000">
                <a:alpha val="30000"/>
              </a:srgbClr>
            </a:outerShdw>
          </a:effectLst>
        </p:spPr>
      </p:sp>
      <p:sp>
        <p:nvSpPr>
          <p:cNvPr id="8" name="Text 6"/>
          <p:cNvSpPr/>
          <p:nvPr/>
        </p:nvSpPr>
        <p:spPr>
          <a:xfrm>
            <a:off x="3657600" y="1965960"/>
            <a:ext cx="3840480" cy="457200"/>
          </a:xfrm>
          <a:prstGeom prst="rect">
            <a:avLst/>
          </a:prstGeom>
          <a:noFill/>
          <a:ln/>
        </p:spPr>
        <p:txBody>
          <a:bodyPr wrap="square" lIns="0" tIns="0" rIns="0" bIns="0" rtlCol="0" anchor="ctr"/>
          <a:lstStyle/>
          <a:p>
            <a:pPr algn="ctr" indent="0" marL="0">
              <a:buNone/>
            </a:pPr>
            <a:r>
              <a:rPr lang="en-US" sz="1600" b="1" dirty="0">
                <a:solidFill>
                  <a:srgbClr val="F26A2B"/>
                </a:solidFill>
                <a:latin typeface="Calibri" pitchFamily="34" charset="0"/>
                <a:ea typeface="Calibri" pitchFamily="34" charset="-122"/>
                <a:cs typeface="Calibri" pitchFamily="34" charset="-120"/>
              </a:rPr>
              <a:t>WIDE · linear branch</a:t>
            </a:r>
            <a:endParaRPr lang="en-US" sz="1600" dirty="0"/>
          </a:p>
        </p:txBody>
      </p:sp>
      <p:sp>
        <p:nvSpPr>
          <p:cNvPr id="9" name="Text 7"/>
          <p:cNvSpPr/>
          <p:nvPr/>
        </p:nvSpPr>
        <p:spPr>
          <a:xfrm>
            <a:off x="3657600" y="2423160"/>
            <a:ext cx="3840480" cy="411480"/>
          </a:xfrm>
          <a:prstGeom prst="rect">
            <a:avLst/>
          </a:prstGeom>
          <a:noFill/>
          <a:ln/>
        </p:spPr>
        <p:txBody>
          <a:bodyPr wrap="square" lIns="0" tIns="0" rIns="0" bIns="0" rtlCol="0" anchor="ctr"/>
          <a:lstStyle/>
          <a:p>
            <a:pPr algn="ctr" indent="0" marL="0">
              <a:buNone/>
            </a:pPr>
            <a:r>
              <a:rPr lang="en-US" sz="1300" dirty="0">
                <a:solidFill>
                  <a:srgbClr val="C7D0DD"/>
                </a:solidFill>
                <a:latin typeface="Calibri" pitchFamily="34" charset="0"/>
                <a:ea typeface="Calibri" pitchFamily="34" charset="-122"/>
                <a:cs typeface="Calibri" pitchFamily="34" charset="-120"/>
              </a:rPr>
              <a:t>memorizes direct signals (16 units)</a:t>
            </a:r>
            <a:endParaRPr lang="en-US" sz="1300" dirty="0"/>
          </a:p>
        </p:txBody>
      </p:sp>
      <p:sp>
        <p:nvSpPr>
          <p:cNvPr id="10" name="Shape 8"/>
          <p:cNvSpPr/>
          <p:nvPr/>
        </p:nvSpPr>
        <p:spPr>
          <a:xfrm>
            <a:off x="3657600" y="3200400"/>
            <a:ext cx="3840480" cy="1783080"/>
          </a:xfrm>
          <a:prstGeom prst="roundRect">
            <a:avLst>
              <a:gd name="adj" fmla="val 4615"/>
            </a:avLst>
          </a:prstGeom>
          <a:solidFill>
            <a:srgbClr val="13243B"/>
          </a:solidFill>
          <a:ln/>
          <a:effectLst>
            <a:outerShdw sx="100000" sy="100000" kx="0" ky="0" algn="bl" rotWithShape="0" blurRad="114300" dist="38100" dir="5400000">
              <a:srgbClr val="000000">
                <a:alpha val="30000"/>
              </a:srgbClr>
            </a:outerShdw>
          </a:effectLst>
        </p:spPr>
      </p:sp>
      <p:sp>
        <p:nvSpPr>
          <p:cNvPr id="11" name="Text 9"/>
          <p:cNvSpPr/>
          <p:nvPr/>
        </p:nvSpPr>
        <p:spPr>
          <a:xfrm>
            <a:off x="3657600" y="3383280"/>
            <a:ext cx="3840480" cy="411480"/>
          </a:xfrm>
          <a:prstGeom prst="rect">
            <a:avLst/>
          </a:prstGeom>
          <a:noFill/>
          <a:ln/>
        </p:spPr>
        <p:txBody>
          <a:bodyPr wrap="square" lIns="0" tIns="0" rIns="0" bIns="0" rtlCol="0" anchor="ctr"/>
          <a:lstStyle/>
          <a:p>
            <a:pPr algn="ctr" indent="0" marL="0">
              <a:buNone/>
            </a:pPr>
            <a:r>
              <a:rPr lang="en-US" sz="1600" b="1" dirty="0">
                <a:solidFill>
                  <a:srgbClr val="37C2A4"/>
                </a:solidFill>
                <a:latin typeface="Calibri" pitchFamily="34" charset="0"/>
                <a:ea typeface="Calibri" pitchFamily="34" charset="-122"/>
                <a:cs typeface="Calibri" pitchFamily="34" charset="-120"/>
              </a:rPr>
              <a:t>DEEP · learns interactions</a:t>
            </a:r>
            <a:endParaRPr lang="en-US" sz="1600" dirty="0"/>
          </a:p>
        </p:txBody>
      </p:sp>
      <p:sp>
        <p:nvSpPr>
          <p:cNvPr id="12" name="Text 10"/>
          <p:cNvSpPr/>
          <p:nvPr/>
        </p:nvSpPr>
        <p:spPr>
          <a:xfrm>
            <a:off x="3657600" y="3822192"/>
            <a:ext cx="3840480" cy="365760"/>
          </a:xfrm>
          <a:prstGeom prst="rect">
            <a:avLst/>
          </a:prstGeom>
          <a:noFill/>
          <a:ln/>
        </p:spPr>
        <p:txBody>
          <a:bodyPr wrap="square" lIns="0" tIns="0" rIns="0" bIns="0" rtlCol="0" anchor="ctr"/>
          <a:lstStyle/>
          <a:p>
            <a:pPr algn="ctr" indent="0" marL="0">
              <a:buNone/>
            </a:pPr>
            <a:r>
              <a:rPr lang="en-US" sz="1300" dirty="0">
                <a:solidFill>
                  <a:srgbClr val="C7D0DD"/>
                </a:solidFill>
                <a:latin typeface="Calibri" pitchFamily="34" charset="0"/>
                <a:ea typeface="Calibri" pitchFamily="34" charset="-122"/>
                <a:cs typeface="Calibri" pitchFamily="34" charset="-120"/>
              </a:rPr>
              <a:t>96 → 48 → 24, ReLU + BatchNorm</a:t>
            </a:r>
            <a:endParaRPr lang="en-US" sz="1300" dirty="0"/>
          </a:p>
        </p:txBody>
      </p:sp>
      <p:sp>
        <p:nvSpPr>
          <p:cNvPr id="13" name="Text 11"/>
          <p:cNvSpPr/>
          <p:nvPr/>
        </p:nvSpPr>
        <p:spPr>
          <a:xfrm>
            <a:off x="3657600" y="4206240"/>
            <a:ext cx="3840480" cy="365760"/>
          </a:xfrm>
          <a:prstGeom prst="rect">
            <a:avLst/>
          </a:prstGeom>
          <a:noFill/>
          <a:ln/>
        </p:spPr>
        <p:txBody>
          <a:bodyPr wrap="square" lIns="0" tIns="0" rIns="0" bIns="0" rtlCol="0" anchor="ctr"/>
          <a:lstStyle/>
          <a:p>
            <a:pPr algn="ctr" indent="0" marL="0">
              <a:buNone/>
            </a:pPr>
            <a:r>
              <a:rPr lang="en-US" sz="1300" dirty="0">
                <a:solidFill>
                  <a:srgbClr val="C7D0DD"/>
                </a:solidFill>
                <a:latin typeface="Calibri" pitchFamily="34" charset="0"/>
                <a:ea typeface="Calibri" pitchFamily="34" charset="-122"/>
                <a:cs typeface="Calibri" pitchFamily="34" charset="-120"/>
              </a:rPr>
              <a:t>dropout 0.5 / 0.4 / 0.3</a:t>
            </a:r>
            <a:endParaRPr lang="en-US" sz="1300" dirty="0"/>
          </a:p>
        </p:txBody>
      </p:sp>
      <p:sp>
        <p:nvSpPr>
          <p:cNvPr id="14" name="Shape 12"/>
          <p:cNvSpPr/>
          <p:nvPr/>
        </p:nvSpPr>
        <p:spPr>
          <a:xfrm>
            <a:off x="8686800" y="2606040"/>
            <a:ext cx="1828800" cy="1828800"/>
          </a:xfrm>
          <a:prstGeom prst="ellipse">
            <a:avLst/>
          </a:prstGeom>
          <a:solidFill>
            <a:srgbClr val="F26A2B"/>
          </a:solidFill>
          <a:ln/>
          <a:effectLst>
            <a:outerShdw sx="100000" sy="100000" kx="0" ky="0" algn="bl" rotWithShape="0" blurRad="114300" dist="38100" dir="5400000">
              <a:srgbClr val="000000">
                <a:alpha val="30000"/>
              </a:srgbClr>
            </a:outerShdw>
          </a:effectLst>
        </p:spPr>
      </p:sp>
      <p:sp>
        <p:nvSpPr>
          <p:cNvPr id="15" name="Text 13"/>
          <p:cNvSpPr/>
          <p:nvPr/>
        </p:nvSpPr>
        <p:spPr>
          <a:xfrm>
            <a:off x="8686800" y="3063240"/>
            <a:ext cx="1828800" cy="914400"/>
          </a:xfrm>
          <a:prstGeom prst="rect">
            <a:avLst/>
          </a:prstGeom>
          <a:noFill/>
          <a:ln/>
        </p:spPr>
        <p:txBody>
          <a:bodyPr wrap="square" lIns="0" tIns="0" rIns="0" bIns="0" rtlCol="0" anchor="ctr"/>
          <a:lstStyle/>
          <a:p>
            <a:pPr algn="ctr" indent="0" marL="0">
              <a:buNone/>
            </a:pPr>
            <a:r>
              <a:rPr lang="en-US" sz="2000" b="1" dirty="0">
                <a:solidFill>
                  <a:srgbClr val="0C1726"/>
                </a:solidFill>
                <a:latin typeface="Arial" pitchFamily="34" charset="0"/>
                <a:ea typeface="Arial" pitchFamily="34" charset="-122"/>
                <a:cs typeface="Arial" pitchFamily="34" charset="-120"/>
              </a:rPr>
              <a:t>P(home</a:t>
            </a:r>
            <a:endParaRPr lang="en-US" sz="2000" dirty="0"/>
          </a:p>
          <a:p>
            <a:pPr algn="ctr" indent="0" marL="0">
              <a:buNone/>
            </a:pPr>
            <a:r>
              <a:rPr lang="en-US" sz="2000" b="1" dirty="0">
                <a:solidFill>
                  <a:srgbClr val="0C1726"/>
                </a:solidFill>
                <a:latin typeface="Arial" pitchFamily="34" charset="0"/>
                <a:ea typeface="Arial" pitchFamily="34" charset="-122"/>
                <a:cs typeface="Arial" pitchFamily="34" charset="-120"/>
              </a:rPr>
              <a:t>win)</a:t>
            </a:r>
            <a:endParaRPr lang="en-US" sz="2000" dirty="0"/>
          </a:p>
        </p:txBody>
      </p:sp>
      <p:sp>
        <p:nvSpPr>
          <p:cNvPr id="16" name="Text 14"/>
          <p:cNvSpPr/>
          <p:nvPr/>
        </p:nvSpPr>
        <p:spPr>
          <a:xfrm>
            <a:off x="2697480" y="2743200"/>
            <a:ext cx="914400" cy="731520"/>
          </a:xfrm>
          <a:prstGeom prst="rect">
            <a:avLst/>
          </a:prstGeom>
          <a:noFill/>
          <a:ln/>
        </p:spPr>
        <p:txBody>
          <a:bodyPr wrap="square" lIns="0" tIns="0" rIns="0" bIns="0" rtlCol="0" anchor="ctr"/>
          <a:lstStyle/>
          <a:p>
            <a:pPr algn="ctr" indent="0" marL="0">
              <a:buNone/>
            </a:pPr>
            <a:r>
              <a:rPr lang="en-US" sz="4000" dirty="0">
                <a:solidFill>
                  <a:srgbClr val="93A1B6"/>
                </a:solidFill>
                <a:latin typeface="Arial" pitchFamily="34" charset="0"/>
                <a:ea typeface="Arial" pitchFamily="34" charset="-122"/>
                <a:cs typeface="Arial" pitchFamily="34" charset="-120"/>
              </a:rPr>
              <a:t>›</a:t>
            </a:r>
            <a:endParaRPr lang="en-US" sz="4000" dirty="0"/>
          </a:p>
        </p:txBody>
      </p:sp>
      <p:sp>
        <p:nvSpPr>
          <p:cNvPr id="17" name="Text 15"/>
          <p:cNvSpPr/>
          <p:nvPr/>
        </p:nvSpPr>
        <p:spPr>
          <a:xfrm>
            <a:off x="7543800" y="2926080"/>
            <a:ext cx="1097280" cy="731520"/>
          </a:xfrm>
          <a:prstGeom prst="rect">
            <a:avLst/>
          </a:prstGeom>
          <a:noFill/>
          <a:ln/>
        </p:spPr>
        <p:txBody>
          <a:bodyPr wrap="square" lIns="0" tIns="0" rIns="0" bIns="0" rtlCol="0" anchor="ctr"/>
          <a:lstStyle/>
          <a:p>
            <a:pPr algn="ctr" indent="0" marL="0">
              <a:buNone/>
            </a:pPr>
            <a:r>
              <a:rPr lang="en-US" sz="4000" dirty="0">
                <a:solidFill>
                  <a:srgbClr val="93A1B6"/>
                </a:solidFill>
                <a:latin typeface="Arial" pitchFamily="34" charset="0"/>
                <a:ea typeface="Arial" pitchFamily="34" charset="-122"/>
                <a:cs typeface="Arial" pitchFamily="34" charset="-120"/>
              </a:rPr>
              <a:t>›</a:t>
            </a:r>
            <a:endParaRPr lang="en-US" sz="4000" dirty="0"/>
          </a:p>
        </p:txBody>
      </p:sp>
      <p:sp>
        <p:nvSpPr>
          <p:cNvPr id="18" name="Shape 16"/>
          <p:cNvSpPr/>
          <p:nvPr/>
        </p:nvSpPr>
        <p:spPr>
          <a:xfrm>
            <a:off x="640080" y="5349240"/>
            <a:ext cx="10881360" cy="914400"/>
          </a:xfrm>
          <a:prstGeom prst="roundRect">
            <a:avLst>
              <a:gd name="adj" fmla="val 9000"/>
            </a:avLst>
          </a:prstGeom>
          <a:solidFill>
            <a:srgbClr val="16294A"/>
          </a:solidFill>
          <a:ln/>
          <a:effectLst>
            <a:outerShdw sx="100000" sy="100000" kx="0" ky="0" algn="bl" rotWithShape="0" blurRad="114300" dist="38100" dir="5400000">
              <a:srgbClr val="000000">
                <a:alpha val="30000"/>
              </a:srgbClr>
            </a:outerShdw>
          </a:effectLst>
        </p:spPr>
      </p:sp>
      <p:sp>
        <p:nvSpPr>
          <p:cNvPr id="19" name="Text 17"/>
          <p:cNvSpPr/>
          <p:nvPr/>
        </p:nvSpPr>
        <p:spPr>
          <a:xfrm>
            <a:off x="868680" y="5577840"/>
            <a:ext cx="10424160" cy="457200"/>
          </a:xfrm>
          <a:prstGeom prst="rect">
            <a:avLst/>
          </a:prstGeom>
          <a:noFill/>
          <a:ln/>
        </p:spPr>
        <p:txBody>
          <a:bodyPr wrap="square" lIns="0" tIns="0" rIns="0" bIns="0" rtlCol="0" anchor="ctr"/>
          <a:lstStyle/>
          <a:p>
            <a:pPr algn="ctr" indent="0" marL="0">
              <a:buNone/>
            </a:pPr>
            <a:r>
              <a:rPr lang="en-US" sz="1450" b="1" dirty="0">
                <a:solidFill>
                  <a:srgbClr val="37C2A4"/>
                </a:solidFill>
                <a:latin typeface="Calibri" pitchFamily="34" charset="0"/>
                <a:ea typeface="Calibri" pitchFamily="34" charset="-122"/>
                <a:cs typeface="Calibri" pitchFamily="34" charset="-120"/>
              </a:rPr>
              <a:t>~13,500 parameters</a:t>
            </a:r>
            <a:pPr algn="ctr" indent="0" marL="0">
              <a:buNone/>
            </a:pPr>
            <a:r>
              <a:rPr lang="en-US" sz="1450" dirty="0">
                <a:solidFill>
                  <a:srgbClr val="C7D0DD"/>
                </a:solidFill>
                <a:latin typeface="Calibri" pitchFamily="34" charset="0"/>
                <a:ea typeface="Calibri" pitchFamily="34" charset="-122"/>
                <a:cs typeface="Calibri" pitchFamily="34" charset="-120"/>
              </a:rPr>
              <a:t>   ·   Adam, weight-decay 2e-3   ·   early stopping (best @ epoch 6)   ·   heavy dropout keeps it pinned at the ceiling, not past it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06 · RESULTS</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Every split lands at the ceiling — just shy of Vegas</a:t>
            </a:r>
            <a:endParaRPr lang="en-US" sz="3200" dirty="0"/>
          </a:p>
        </p:txBody>
      </p:sp>
      <p:sp>
        <p:nvSpPr>
          <p:cNvPr id="4" name="Shape 2"/>
          <p:cNvSpPr/>
          <p:nvPr/>
        </p:nvSpPr>
        <p:spPr>
          <a:xfrm>
            <a:off x="640080" y="1783080"/>
            <a:ext cx="7818120" cy="4480560"/>
          </a:xfrm>
          <a:prstGeom prst="roundRect">
            <a:avLst>
              <a:gd name="adj" fmla="val 1837"/>
            </a:avLst>
          </a:prstGeom>
          <a:solidFill>
            <a:srgbClr val="13243B"/>
          </a:solidFill>
          <a:ln/>
          <a:effectLst>
            <a:outerShdw sx="100000" sy="100000" kx="0" ky="0" algn="bl" rotWithShape="0" blurRad="114300" dist="38100" dir="5400000">
              <a:srgbClr val="000000">
                <a:alpha val="30000"/>
              </a:srgbClr>
            </a:outerShdw>
          </a:effectLst>
        </p:spPr>
      </p:sp>
      <p:pic>
        <p:nvPicPr>
          <p:cNvPr id="5" name="Image 0" descr="figures/dark_split.png">    </p:cNvPr>
          <p:cNvPicPr>
            <a:picLocks noChangeAspect="1"/>
          </p:cNvPicPr>
          <p:nvPr/>
        </p:nvPicPr>
        <p:blipFill>
          <a:blip r:embed="rId1"/>
          <a:srcRect l="0" r="0" t="0" b="0"/>
          <a:stretch/>
        </p:blipFill>
        <p:spPr>
          <a:xfrm>
            <a:off x="914400" y="2057400"/>
            <a:ext cx="7269480" cy="3886200"/>
          </a:xfrm>
          <a:prstGeom prst="rect">
            <a:avLst/>
          </a:prstGeom>
        </p:spPr>
      </p:pic>
      <p:sp>
        <p:nvSpPr>
          <p:cNvPr id="6" name="Shape 3"/>
          <p:cNvSpPr/>
          <p:nvPr/>
        </p:nvSpPr>
        <p:spPr>
          <a:xfrm>
            <a:off x="8686800" y="2011680"/>
            <a:ext cx="2834640" cy="960120"/>
          </a:xfrm>
          <a:prstGeom prst="roundRect">
            <a:avLst>
              <a:gd name="adj" fmla="val 8571"/>
            </a:avLst>
          </a:prstGeom>
          <a:solidFill>
            <a:srgbClr val="16294A"/>
          </a:solidFill>
          <a:ln/>
          <a:effectLst>
            <a:outerShdw sx="100000" sy="100000" kx="0" ky="0" algn="bl" rotWithShape="0" blurRad="114300" dist="38100" dir="5400000">
              <a:srgbClr val="000000">
                <a:alpha val="30000"/>
              </a:srgbClr>
            </a:outerShdw>
          </a:effectLst>
        </p:spPr>
      </p:sp>
      <p:sp>
        <p:nvSpPr>
          <p:cNvPr id="7" name="Text 4"/>
          <p:cNvSpPr/>
          <p:nvPr/>
        </p:nvSpPr>
        <p:spPr>
          <a:xfrm>
            <a:off x="8823960" y="2084832"/>
            <a:ext cx="2560320" cy="548640"/>
          </a:xfrm>
          <a:prstGeom prst="rect">
            <a:avLst/>
          </a:prstGeom>
          <a:noFill/>
          <a:ln/>
        </p:spPr>
        <p:txBody>
          <a:bodyPr wrap="square" lIns="0" tIns="0" rIns="0" bIns="0" rtlCol="0" anchor="ctr"/>
          <a:lstStyle/>
          <a:p>
            <a:pPr indent="0" marL="0">
              <a:buNone/>
            </a:pPr>
            <a:r>
              <a:rPr lang="en-US" sz="3000" b="1" dirty="0">
                <a:solidFill>
                  <a:srgbClr val="37C2A4"/>
                </a:solidFill>
                <a:latin typeface="Arial" pitchFamily="34" charset="0"/>
                <a:ea typeface="Arial" pitchFamily="34" charset="-122"/>
                <a:cs typeface="Arial" pitchFamily="34" charset="-120"/>
              </a:rPr>
              <a:t>62.9%</a:t>
            </a:r>
            <a:endParaRPr lang="en-US" sz="3000" dirty="0"/>
          </a:p>
        </p:txBody>
      </p:sp>
      <p:sp>
        <p:nvSpPr>
          <p:cNvPr id="8" name="Text 5"/>
          <p:cNvSpPr/>
          <p:nvPr/>
        </p:nvSpPr>
        <p:spPr>
          <a:xfrm>
            <a:off x="8842248" y="2615184"/>
            <a:ext cx="2560320" cy="320040"/>
          </a:xfrm>
          <a:prstGeom prst="rect">
            <a:avLst/>
          </a:prstGeom>
          <a:noFill/>
          <a:ln/>
        </p:spPr>
        <p:txBody>
          <a:bodyPr wrap="square" lIns="0" tIns="0" rIns="0" bIns="0" rtlCol="0" anchor="ctr"/>
          <a:lstStyle/>
          <a:p>
            <a:pPr indent="0" marL="0">
              <a:buNone/>
            </a:pPr>
            <a:r>
              <a:rPr lang="en-US" sz="1250" dirty="0">
                <a:solidFill>
                  <a:srgbClr val="93A1B6"/>
                </a:solidFill>
                <a:latin typeface="Calibri" pitchFamily="34" charset="0"/>
                <a:ea typeface="Calibri" pitchFamily="34" charset="-122"/>
                <a:cs typeface="Calibri" pitchFamily="34" charset="-120"/>
              </a:rPr>
              <a:t>Test acc</a:t>
            </a:r>
            <a:endParaRPr lang="en-US" sz="1250" dirty="0"/>
          </a:p>
        </p:txBody>
      </p:sp>
      <p:sp>
        <p:nvSpPr>
          <p:cNvPr id="9" name="Shape 6"/>
          <p:cNvSpPr/>
          <p:nvPr/>
        </p:nvSpPr>
        <p:spPr>
          <a:xfrm>
            <a:off x="8686800" y="3090672"/>
            <a:ext cx="2834640" cy="960120"/>
          </a:xfrm>
          <a:prstGeom prst="roundRect">
            <a:avLst>
              <a:gd name="adj" fmla="val 8571"/>
            </a:avLst>
          </a:prstGeom>
          <a:solidFill>
            <a:srgbClr val="16294A"/>
          </a:solidFill>
          <a:ln/>
          <a:effectLst>
            <a:outerShdw sx="100000" sy="100000" kx="0" ky="0" algn="bl" rotWithShape="0" blurRad="114300" dist="38100" dir="5400000">
              <a:srgbClr val="000000">
                <a:alpha val="30000"/>
              </a:srgbClr>
            </a:outerShdw>
          </a:effectLst>
        </p:spPr>
      </p:sp>
      <p:sp>
        <p:nvSpPr>
          <p:cNvPr id="10" name="Text 7"/>
          <p:cNvSpPr/>
          <p:nvPr/>
        </p:nvSpPr>
        <p:spPr>
          <a:xfrm>
            <a:off x="8823960" y="3163824"/>
            <a:ext cx="2560320" cy="548640"/>
          </a:xfrm>
          <a:prstGeom prst="rect">
            <a:avLst/>
          </a:prstGeom>
          <a:noFill/>
          <a:ln/>
        </p:spPr>
        <p:txBody>
          <a:bodyPr wrap="square" lIns="0" tIns="0" rIns="0" bIns="0" rtlCol="0" anchor="ctr"/>
          <a:lstStyle/>
          <a:p>
            <a:pPr indent="0" marL="0">
              <a:buNone/>
            </a:pPr>
            <a:r>
              <a:rPr lang="en-US" sz="3000" b="1" dirty="0">
                <a:solidFill>
                  <a:srgbClr val="37C2A4"/>
                </a:solidFill>
                <a:latin typeface="Arial" pitchFamily="34" charset="0"/>
                <a:ea typeface="Arial" pitchFamily="34" charset="-122"/>
                <a:cs typeface="Arial" pitchFamily="34" charset="-120"/>
              </a:rPr>
              <a:t>0.676</a:t>
            </a:r>
            <a:endParaRPr lang="en-US" sz="3000" dirty="0"/>
          </a:p>
        </p:txBody>
      </p:sp>
      <p:sp>
        <p:nvSpPr>
          <p:cNvPr id="11" name="Text 8"/>
          <p:cNvSpPr/>
          <p:nvPr/>
        </p:nvSpPr>
        <p:spPr>
          <a:xfrm>
            <a:off x="8842248" y="3694176"/>
            <a:ext cx="2560320" cy="320040"/>
          </a:xfrm>
          <a:prstGeom prst="rect">
            <a:avLst/>
          </a:prstGeom>
          <a:noFill/>
          <a:ln/>
        </p:spPr>
        <p:txBody>
          <a:bodyPr wrap="square" lIns="0" tIns="0" rIns="0" bIns="0" rtlCol="0" anchor="ctr"/>
          <a:lstStyle/>
          <a:p>
            <a:pPr indent="0" marL="0">
              <a:buNone/>
            </a:pPr>
            <a:r>
              <a:rPr lang="en-US" sz="1250" dirty="0">
                <a:solidFill>
                  <a:srgbClr val="93A1B6"/>
                </a:solidFill>
                <a:latin typeface="Calibri" pitchFamily="34" charset="0"/>
                <a:ea typeface="Calibri" pitchFamily="34" charset="-122"/>
                <a:cs typeface="Calibri" pitchFamily="34" charset="-120"/>
              </a:rPr>
              <a:t>Test ROC-AUC</a:t>
            </a:r>
            <a:endParaRPr lang="en-US" sz="1250" dirty="0"/>
          </a:p>
        </p:txBody>
      </p:sp>
      <p:sp>
        <p:nvSpPr>
          <p:cNvPr id="12" name="Shape 9"/>
          <p:cNvSpPr/>
          <p:nvPr/>
        </p:nvSpPr>
        <p:spPr>
          <a:xfrm>
            <a:off x="8686800" y="4169664"/>
            <a:ext cx="2834640" cy="960120"/>
          </a:xfrm>
          <a:prstGeom prst="roundRect">
            <a:avLst>
              <a:gd name="adj" fmla="val 8571"/>
            </a:avLst>
          </a:prstGeom>
          <a:solidFill>
            <a:srgbClr val="16294A"/>
          </a:solidFill>
          <a:ln/>
          <a:effectLst>
            <a:outerShdw sx="100000" sy="100000" kx="0" ky="0" algn="bl" rotWithShape="0" blurRad="114300" dist="38100" dir="5400000">
              <a:srgbClr val="000000">
                <a:alpha val="30000"/>
              </a:srgbClr>
            </a:outerShdw>
          </a:effectLst>
        </p:spPr>
      </p:sp>
      <p:sp>
        <p:nvSpPr>
          <p:cNvPr id="13" name="Text 10"/>
          <p:cNvSpPr/>
          <p:nvPr/>
        </p:nvSpPr>
        <p:spPr>
          <a:xfrm>
            <a:off x="8823960" y="4242816"/>
            <a:ext cx="2560320" cy="548640"/>
          </a:xfrm>
          <a:prstGeom prst="rect">
            <a:avLst/>
          </a:prstGeom>
          <a:noFill/>
          <a:ln/>
        </p:spPr>
        <p:txBody>
          <a:bodyPr wrap="square" lIns="0" tIns="0" rIns="0" bIns="0" rtlCol="0" anchor="ctr"/>
          <a:lstStyle/>
          <a:p>
            <a:pPr indent="0" marL="0">
              <a:buNone/>
            </a:pPr>
            <a:r>
              <a:rPr lang="en-US" sz="3000" b="1" dirty="0">
                <a:solidFill>
                  <a:srgbClr val="C99A4E"/>
                </a:solidFill>
                <a:latin typeface="Arial" pitchFamily="34" charset="0"/>
                <a:ea typeface="Arial" pitchFamily="34" charset="-122"/>
                <a:cs typeface="Arial" pitchFamily="34" charset="-120"/>
              </a:rPr>
              <a:t>62.8%</a:t>
            </a:r>
            <a:endParaRPr lang="en-US" sz="3000" dirty="0"/>
          </a:p>
        </p:txBody>
      </p:sp>
      <p:sp>
        <p:nvSpPr>
          <p:cNvPr id="14" name="Text 11"/>
          <p:cNvSpPr/>
          <p:nvPr/>
        </p:nvSpPr>
        <p:spPr>
          <a:xfrm>
            <a:off x="8842248" y="4773168"/>
            <a:ext cx="2560320" cy="320040"/>
          </a:xfrm>
          <a:prstGeom prst="rect">
            <a:avLst/>
          </a:prstGeom>
          <a:noFill/>
          <a:ln/>
        </p:spPr>
        <p:txBody>
          <a:bodyPr wrap="square" lIns="0" tIns="0" rIns="0" bIns="0" rtlCol="0" anchor="ctr"/>
          <a:lstStyle/>
          <a:p>
            <a:pPr indent="0" marL="0">
              <a:buNone/>
            </a:pPr>
            <a:r>
              <a:rPr lang="en-US" sz="1250" dirty="0">
                <a:solidFill>
                  <a:srgbClr val="93A1B6"/>
                </a:solidFill>
                <a:latin typeface="Calibri" pitchFamily="34" charset="0"/>
                <a:ea typeface="Calibri" pitchFamily="34" charset="-122"/>
                <a:cs typeface="Calibri" pitchFamily="34" charset="-120"/>
              </a:rPr>
              <a:t>Train acc</a:t>
            </a:r>
            <a:endParaRPr lang="en-US" sz="1250" dirty="0"/>
          </a:p>
        </p:txBody>
      </p:sp>
      <p:sp>
        <p:nvSpPr>
          <p:cNvPr id="15" name="Shape 12"/>
          <p:cNvSpPr/>
          <p:nvPr/>
        </p:nvSpPr>
        <p:spPr>
          <a:xfrm>
            <a:off x="8686800" y="5248656"/>
            <a:ext cx="2834640" cy="960120"/>
          </a:xfrm>
          <a:prstGeom prst="roundRect">
            <a:avLst>
              <a:gd name="adj" fmla="val 8571"/>
            </a:avLst>
          </a:prstGeom>
          <a:solidFill>
            <a:srgbClr val="16294A"/>
          </a:solidFill>
          <a:ln/>
          <a:effectLst>
            <a:outerShdw sx="100000" sy="100000" kx="0" ky="0" algn="bl" rotWithShape="0" blurRad="114300" dist="38100" dir="5400000">
              <a:srgbClr val="000000">
                <a:alpha val="30000"/>
              </a:srgbClr>
            </a:outerShdw>
          </a:effectLst>
        </p:spPr>
      </p:sp>
      <p:sp>
        <p:nvSpPr>
          <p:cNvPr id="16" name="Text 13"/>
          <p:cNvSpPr/>
          <p:nvPr/>
        </p:nvSpPr>
        <p:spPr>
          <a:xfrm>
            <a:off x="8823960" y="5321808"/>
            <a:ext cx="2560320" cy="548640"/>
          </a:xfrm>
          <a:prstGeom prst="rect">
            <a:avLst/>
          </a:prstGeom>
          <a:noFill/>
          <a:ln/>
        </p:spPr>
        <p:txBody>
          <a:bodyPr wrap="square" lIns="0" tIns="0" rIns="0" bIns="0" rtlCol="0" anchor="ctr"/>
          <a:lstStyle/>
          <a:p>
            <a:pPr indent="0" marL="0">
              <a:buNone/>
            </a:pPr>
            <a:r>
              <a:rPr lang="en-US" sz="3000" b="1" dirty="0">
                <a:solidFill>
                  <a:srgbClr val="F26A2B"/>
                </a:solidFill>
                <a:latin typeface="Arial" pitchFamily="34" charset="0"/>
                <a:ea typeface="Arial" pitchFamily="34" charset="-122"/>
                <a:cs typeface="Arial" pitchFamily="34" charset="-120"/>
              </a:rPr>
              <a:t>~4 pts</a:t>
            </a:r>
            <a:endParaRPr lang="en-US" sz="3000" dirty="0"/>
          </a:p>
        </p:txBody>
      </p:sp>
      <p:sp>
        <p:nvSpPr>
          <p:cNvPr id="17" name="Text 14"/>
          <p:cNvSpPr/>
          <p:nvPr/>
        </p:nvSpPr>
        <p:spPr>
          <a:xfrm>
            <a:off x="8842248" y="5852160"/>
            <a:ext cx="2560320" cy="320040"/>
          </a:xfrm>
          <a:prstGeom prst="rect">
            <a:avLst/>
          </a:prstGeom>
          <a:noFill/>
          <a:ln/>
        </p:spPr>
        <p:txBody>
          <a:bodyPr wrap="square" lIns="0" tIns="0" rIns="0" bIns="0" rtlCol="0" anchor="ctr"/>
          <a:lstStyle/>
          <a:p>
            <a:pPr indent="0" marL="0">
              <a:buNone/>
            </a:pPr>
            <a:r>
              <a:rPr lang="en-US" sz="1250" dirty="0">
                <a:solidFill>
                  <a:srgbClr val="93A1B6"/>
                </a:solidFill>
                <a:latin typeface="Calibri" pitchFamily="34" charset="0"/>
                <a:ea typeface="Calibri" pitchFamily="34" charset="-122"/>
                <a:cs typeface="Calibri" pitchFamily="34" charset="-120"/>
              </a:rPr>
              <a:t>Gap to Vegas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07 · STABILITY</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Accuracy holds season to season</a:t>
            </a:r>
            <a:endParaRPr lang="en-US" sz="3200" dirty="0"/>
          </a:p>
        </p:txBody>
      </p:sp>
      <p:sp>
        <p:nvSpPr>
          <p:cNvPr id="4" name="Shape 2"/>
          <p:cNvSpPr/>
          <p:nvPr/>
        </p:nvSpPr>
        <p:spPr>
          <a:xfrm>
            <a:off x="640080" y="1783080"/>
            <a:ext cx="7680960" cy="4480560"/>
          </a:xfrm>
          <a:prstGeom prst="roundRect">
            <a:avLst>
              <a:gd name="adj" fmla="val 1837"/>
            </a:avLst>
          </a:prstGeom>
          <a:solidFill>
            <a:srgbClr val="13243B"/>
          </a:solidFill>
          <a:ln/>
          <a:effectLst>
            <a:outerShdw sx="100000" sy="100000" kx="0" ky="0" algn="bl" rotWithShape="0" blurRad="114300" dist="38100" dir="5400000">
              <a:srgbClr val="000000">
                <a:alpha val="30000"/>
              </a:srgbClr>
            </a:outerShdw>
          </a:effectLst>
        </p:spPr>
      </p:sp>
      <p:pic>
        <p:nvPicPr>
          <p:cNvPr id="5" name="Image 0" descr="figures/dark_season.png">    </p:cNvPr>
          <p:cNvPicPr>
            <a:picLocks noChangeAspect="1"/>
          </p:cNvPicPr>
          <p:nvPr/>
        </p:nvPicPr>
        <p:blipFill>
          <a:blip r:embed="rId1"/>
          <a:srcRect l="0" r="0" t="0" b="0"/>
          <a:stretch/>
        </p:blipFill>
        <p:spPr>
          <a:xfrm>
            <a:off x="868680" y="2011680"/>
            <a:ext cx="7223760" cy="4023360"/>
          </a:xfrm>
          <a:prstGeom prst="rect">
            <a:avLst/>
          </a:prstGeom>
        </p:spPr>
      </p:pic>
      <p:sp>
        <p:nvSpPr>
          <p:cNvPr id="6" name="Text 3"/>
          <p:cNvSpPr/>
          <p:nvPr/>
        </p:nvSpPr>
        <p:spPr>
          <a:xfrm>
            <a:off x="8549640" y="2377440"/>
            <a:ext cx="3017520" cy="2926080"/>
          </a:xfrm>
          <a:prstGeom prst="rect">
            <a:avLst/>
          </a:prstGeom>
          <a:noFill/>
          <a:ln/>
        </p:spPr>
        <p:txBody>
          <a:bodyPr wrap="square" lIns="0" tIns="0" rIns="0" bIns="0" rtlCol="0" anchor="ctr"/>
          <a:lstStyle/>
          <a:p>
            <a:pPr indent="0" marL="0">
              <a:lnSpc>
                <a:spcPct val="118000"/>
              </a:lnSpc>
              <a:buNone/>
            </a:pPr>
            <a:r>
              <a:rPr lang="en-US" sz="1550" b="1" dirty="0">
                <a:solidFill>
                  <a:srgbClr val="F4F1EA"/>
                </a:solidFill>
                <a:latin typeface="Calibri" pitchFamily="34" charset="0"/>
                <a:ea typeface="Calibri" pitchFamily="34" charset="-122"/>
                <a:cs typeface="Calibri" pitchFamily="34" charset="-120"/>
              </a:rPr>
              <a:t>Train ≈ Test</a:t>
            </a:r>
            <a:endParaRPr lang="en-US" sz="1550" dirty="0"/>
          </a:p>
          <a:p>
            <a:pPr indent="0" marL="0">
              <a:lnSpc>
                <a:spcPct val="118000"/>
              </a:lnSpc>
              <a:buNone/>
            </a:pPr>
            <a:r>
              <a:rPr lang="en-US" sz="1550" dirty="0">
                <a:solidFill>
                  <a:srgbClr val="C7D0DD"/>
                </a:solidFill>
                <a:latin typeface="Calibri" pitchFamily="34" charset="0"/>
                <a:ea typeface="Calibri" pitchFamily="34" charset="-122"/>
                <a:cs typeface="Calibri" pitchFamily="34" charset="-120"/>
              </a:rPr>
              <a:t>The held-out 2023–24 and 2024–25 seasons score right alongside the training seasons. The model generalizes to years it never saw rather than memorizing the past.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08 · CALIBRATION</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Predicted win% tracks reality</a:t>
            </a:r>
            <a:endParaRPr lang="en-US" sz="3200" dirty="0"/>
          </a:p>
        </p:txBody>
      </p:sp>
      <p:sp>
        <p:nvSpPr>
          <p:cNvPr id="4" name="Shape 2"/>
          <p:cNvSpPr/>
          <p:nvPr/>
        </p:nvSpPr>
        <p:spPr>
          <a:xfrm>
            <a:off x="640080" y="1783080"/>
            <a:ext cx="10881360" cy="3611880"/>
          </a:xfrm>
          <a:prstGeom prst="roundRect">
            <a:avLst>
              <a:gd name="adj" fmla="val 2278"/>
            </a:avLst>
          </a:prstGeom>
          <a:solidFill>
            <a:srgbClr val="13243B"/>
          </a:solidFill>
          <a:ln/>
          <a:effectLst>
            <a:outerShdw sx="100000" sy="100000" kx="0" ky="0" algn="bl" rotWithShape="0" blurRad="114300" dist="38100" dir="5400000">
              <a:srgbClr val="000000">
                <a:alpha val="30000"/>
              </a:srgbClr>
            </a:outerShdw>
          </a:effectLst>
        </p:spPr>
      </p:sp>
      <p:pic>
        <p:nvPicPr>
          <p:cNvPr id="5" name="Image 0" descr="figures/dark_scatter.png">    </p:cNvPr>
          <p:cNvPicPr>
            <a:picLocks noChangeAspect="1"/>
          </p:cNvPicPr>
          <p:nvPr/>
        </p:nvPicPr>
        <p:blipFill>
          <a:blip r:embed="rId1"/>
          <a:srcRect l="0" r="0" t="0" b="0"/>
          <a:stretch/>
        </p:blipFill>
        <p:spPr>
          <a:xfrm>
            <a:off x="1005840" y="2011680"/>
            <a:ext cx="10149840" cy="3200400"/>
          </a:xfrm>
          <a:prstGeom prst="rect">
            <a:avLst/>
          </a:prstGeom>
        </p:spPr>
      </p:pic>
      <p:sp>
        <p:nvSpPr>
          <p:cNvPr id="6" name="Text 3"/>
          <p:cNvSpPr/>
          <p:nvPr/>
        </p:nvSpPr>
        <p:spPr>
          <a:xfrm>
            <a:off x="640080" y="5577840"/>
            <a:ext cx="10881360" cy="822960"/>
          </a:xfrm>
          <a:prstGeom prst="rect">
            <a:avLst/>
          </a:prstGeom>
          <a:noFill/>
          <a:ln/>
        </p:spPr>
        <p:txBody>
          <a:bodyPr wrap="square" lIns="0" tIns="0" rIns="0" bIns="0" rtlCol="0" anchor="ctr"/>
          <a:lstStyle/>
          <a:p>
            <a:pPr algn="ctr" indent="0" marL="0">
              <a:lnSpc>
                <a:spcPct val="110000"/>
              </a:lnSpc>
              <a:buNone/>
            </a:pPr>
            <a:r>
              <a:rPr lang="en-US" sz="1600" dirty="0">
                <a:solidFill>
                  <a:srgbClr val="C7D0DD"/>
                </a:solidFill>
                <a:latin typeface="Calibri" pitchFamily="34" charset="0"/>
                <a:ea typeface="Calibri" pitchFamily="34" charset="-122"/>
                <a:cs typeface="Calibri" pitchFamily="34" charset="-120"/>
              </a:rPr>
              <a:t>Each point is one team-season. Hugging the diagonal means the model's projected record matches what teams actually did — and it holds on the unseen test seasons (r = 0.92).</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09 · RANKING POWER</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Well above chance in every split</a:t>
            </a:r>
            <a:endParaRPr lang="en-US" sz="3200" dirty="0"/>
          </a:p>
        </p:txBody>
      </p:sp>
      <p:sp>
        <p:nvSpPr>
          <p:cNvPr id="4" name="Shape 2"/>
          <p:cNvSpPr/>
          <p:nvPr/>
        </p:nvSpPr>
        <p:spPr>
          <a:xfrm>
            <a:off x="640080" y="1783080"/>
            <a:ext cx="5486400" cy="4480560"/>
          </a:xfrm>
          <a:prstGeom prst="roundRect">
            <a:avLst>
              <a:gd name="adj" fmla="val 1837"/>
            </a:avLst>
          </a:prstGeom>
          <a:solidFill>
            <a:srgbClr val="13243B"/>
          </a:solidFill>
          <a:ln/>
          <a:effectLst>
            <a:outerShdw sx="100000" sy="100000" kx="0" ky="0" algn="bl" rotWithShape="0" blurRad="114300" dist="38100" dir="5400000">
              <a:srgbClr val="000000">
                <a:alpha val="30000"/>
              </a:srgbClr>
            </a:outerShdw>
          </a:effectLst>
        </p:spPr>
      </p:sp>
      <p:pic>
        <p:nvPicPr>
          <p:cNvPr id="5" name="Image 0" descr="figures/dark_roc.png">    </p:cNvPr>
          <p:cNvPicPr>
            <a:picLocks noChangeAspect="1"/>
          </p:cNvPicPr>
          <p:nvPr/>
        </p:nvPicPr>
        <p:blipFill>
          <a:blip r:embed="rId1"/>
          <a:srcRect l="0" r="0" t="0" b="0"/>
          <a:stretch/>
        </p:blipFill>
        <p:spPr>
          <a:xfrm>
            <a:off x="914400" y="2011680"/>
            <a:ext cx="4937760" cy="4023360"/>
          </a:xfrm>
          <a:prstGeom prst="rect">
            <a:avLst/>
          </a:prstGeom>
        </p:spPr>
      </p:pic>
      <p:sp>
        <p:nvSpPr>
          <p:cNvPr id="6" name="Shape 3"/>
          <p:cNvSpPr/>
          <p:nvPr/>
        </p:nvSpPr>
        <p:spPr>
          <a:xfrm>
            <a:off x="6400800" y="2057400"/>
            <a:ext cx="5120640" cy="1298448"/>
          </a:xfrm>
          <a:prstGeom prst="roundRect">
            <a:avLst>
              <a:gd name="adj" fmla="val 6338"/>
            </a:avLst>
          </a:prstGeom>
          <a:solidFill>
            <a:srgbClr val="16294A"/>
          </a:solidFill>
          <a:ln/>
          <a:effectLst>
            <a:outerShdw sx="100000" sy="100000" kx="0" ky="0" algn="bl" rotWithShape="0" blurRad="114300" dist="38100" dir="5400000">
              <a:srgbClr val="000000">
                <a:alpha val="30000"/>
              </a:srgbClr>
            </a:outerShdw>
          </a:effectLst>
        </p:spPr>
      </p:sp>
      <p:sp>
        <p:nvSpPr>
          <p:cNvPr id="7" name="Text 4"/>
          <p:cNvSpPr/>
          <p:nvPr/>
        </p:nvSpPr>
        <p:spPr>
          <a:xfrm>
            <a:off x="6629400" y="2203704"/>
            <a:ext cx="4663440" cy="411480"/>
          </a:xfrm>
          <a:prstGeom prst="rect">
            <a:avLst/>
          </a:prstGeom>
          <a:noFill/>
          <a:ln/>
        </p:spPr>
        <p:txBody>
          <a:bodyPr wrap="square" lIns="0" tIns="0" rIns="0" bIns="0" rtlCol="0" anchor="ctr"/>
          <a:lstStyle/>
          <a:p>
            <a:pPr indent="0" marL="0">
              <a:buNone/>
            </a:pPr>
            <a:r>
              <a:rPr lang="en-US" sz="1800" b="1" dirty="0">
                <a:solidFill>
                  <a:srgbClr val="37C2A4"/>
                </a:solidFill>
                <a:latin typeface="Calibri" pitchFamily="34" charset="0"/>
                <a:ea typeface="Calibri" pitchFamily="34" charset="-122"/>
                <a:cs typeface="Calibri" pitchFamily="34" charset="-120"/>
              </a:rPr>
              <a:t>Test AUC 0.676</a:t>
            </a:r>
            <a:endParaRPr lang="en-US" sz="1800" dirty="0"/>
          </a:p>
        </p:txBody>
      </p:sp>
      <p:sp>
        <p:nvSpPr>
          <p:cNvPr id="8" name="Text 5"/>
          <p:cNvSpPr/>
          <p:nvPr/>
        </p:nvSpPr>
        <p:spPr>
          <a:xfrm>
            <a:off x="6629400" y="2624328"/>
            <a:ext cx="4709160" cy="640080"/>
          </a:xfrm>
          <a:prstGeom prst="rect">
            <a:avLst/>
          </a:prstGeom>
          <a:noFill/>
          <a:ln/>
        </p:spPr>
        <p:txBody>
          <a:bodyPr wrap="square" lIns="0" tIns="0" rIns="0" bIns="0" rtlCol="0" anchor="ctr"/>
          <a:lstStyle/>
          <a:p>
            <a:pPr indent="0" marL="0">
              <a:lnSpc>
                <a:spcPct val="105000"/>
              </a:lnSpc>
              <a:buNone/>
            </a:pPr>
            <a:r>
              <a:rPr lang="en-US" sz="1350" dirty="0">
                <a:solidFill>
                  <a:srgbClr val="C7D0DD"/>
                </a:solidFill>
                <a:latin typeface="Calibri" pitchFamily="34" charset="0"/>
                <a:ea typeface="Calibri" pitchFamily="34" charset="-122"/>
                <a:cs typeface="Calibri" pitchFamily="34" charset="-120"/>
              </a:rPr>
              <a:t>Best of the three splits — performance does not decay on unseen data.</a:t>
            </a:r>
            <a:endParaRPr lang="en-US" sz="1350" dirty="0"/>
          </a:p>
        </p:txBody>
      </p:sp>
      <p:sp>
        <p:nvSpPr>
          <p:cNvPr id="9" name="Shape 6"/>
          <p:cNvSpPr/>
          <p:nvPr/>
        </p:nvSpPr>
        <p:spPr>
          <a:xfrm>
            <a:off x="6400800" y="3474720"/>
            <a:ext cx="5120640" cy="1298448"/>
          </a:xfrm>
          <a:prstGeom prst="roundRect">
            <a:avLst>
              <a:gd name="adj" fmla="val 6338"/>
            </a:avLst>
          </a:prstGeom>
          <a:solidFill>
            <a:srgbClr val="16294A"/>
          </a:solidFill>
          <a:ln/>
          <a:effectLst>
            <a:outerShdw sx="100000" sy="100000" kx="0" ky="0" algn="bl" rotWithShape="0" blurRad="114300" dist="38100" dir="5400000">
              <a:srgbClr val="000000">
                <a:alpha val="30000"/>
              </a:srgbClr>
            </a:outerShdw>
          </a:effectLst>
        </p:spPr>
      </p:sp>
      <p:sp>
        <p:nvSpPr>
          <p:cNvPr id="10" name="Text 7"/>
          <p:cNvSpPr/>
          <p:nvPr/>
        </p:nvSpPr>
        <p:spPr>
          <a:xfrm>
            <a:off x="6629400" y="3621024"/>
            <a:ext cx="4663440" cy="411480"/>
          </a:xfrm>
          <a:prstGeom prst="rect">
            <a:avLst/>
          </a:prstGeom>
          <a:noFill/>
          <a:ln/>
        </p:spPr>
        <p:txBody>
          <a:bodyPr wrap="square" lIns="0" tIns="0" rIns="0" bIns="0" rtlCol="0" anchor="ctr"/>
          <a:lstStyle/>
          <a:p>
            <a:pPr indent="0" marL="0">
              <a:buNone/>
            </a:pPr>
            <a:r>
              <a:rPr lang="en-US" sz="1800" b="1" dirty="0">
                <a:solidFill>
                  <a:srgbClr val="C99A4E"/>
                </a:solidFill>
                <a:latin typeface="Calibri" pitchFamily="34" charset="0"/>
                <a:ea typeface="Calibri" pitchFamily="34" charset="-122"/>
                <a:cs typeface="Calibri" pitchFamily="34" charset="-120"/>
              </a:rPr>
              <a:t>Train AUC 0.663</a:t>
            </a:r>
            <a:endParaRPr lang="en-US" sz="1800" dirty="0"/>
          </a:p>
        </p:txBody>
      </p:sp>
      <p:sp>
        <p:nvSpPr>
          <p:cNvPr id="11" name="Text 8"/>
          <p:cNvSpPr/>
          <p:nvPr/>
        </p:nvSpPr>
        <p:spPr>
          <a:xfrm>
            <a:off x="6629400" y="4041648"/>
            <a:ext cx="4709160" cy="640080"/>
          </a:xfrm>
          <a:prstGeom prst="rect">
            <a:avLst/>
          </a:prstGeom>
          <a:noFill/>
          <a:ln/>
        </p:spPr>
        <p:txBody>
          <a:bodyPr wrap="square" lIns="0" tIns="0" rIns="0" bIns="0" rtlCol="0" anchor="ctr"/>
          <a:lstStyle/>
          <a:p>
            <a:pPr indent="0" marL="0">
              <a:lnSpc>
                <a:spcPct val="105000"/>
              </a:lnSpc>
              <a:buNone/>
            </a:pPr>
            <a:r>
              <a:rPr lang="en-US" sz="1350" dirty="0">
                <a:solidFill>
                  <a:srgbClr val="C7D0DD"/>
                </a:solidFill>
                <a:latin typeface="Calibri" pitchFamily="34" charset="0"/>
                <a:ea typeface="Calibri" pitchFamily="34" charset="-122"/>
                <a:cs typeface="Calibri" pitchFamily="34" charset="-120"/>
              </a:rPr>
              <a:t>Close to test: the model is not memorizing.</a:t>
            </a:r>
            <a:endParaRPr lang="en-US" sz="1350" dirty="0"/>
          </a:p>
        </p:txBody>
      </p:sp>
      <p:sp>
        <p:nvSpPr>
          <p:cNvPr id="12" name="Shape 9"/>
          <p:cNvSpPr/>
          <p:nvPr/>
        </p:nvSpPr>
        <p:spPr>
          <a:xfrm>
            <a:off x="6400800" y="4892040"/>
            <a:ext cx="5120640" cy="1298448"/>
          </a:xfrm>
          <a:prstGeom prst="roundRect">
            <a:avLst>
              <a:gd name="adj" fmla="val 6338"/>
            </a:avLst>
          </a:prstGeom>
          <a:solidFill>
            <a:srgbClr val="16294A"/>
          </a:solidFill>
          <a:ln/>
          <a:effectLst>
            <a:outerShdw sx="100000" sy="100000" kx="0" ky="0" algn="bl" rotWithShape="0" blurRad="114300" dist="38100" dir="5400000">
              <a:srgbClr val="000000">
                <a:alpha val="30000"/>
              </a:srgbClr>
            </a:outerShdw>
          </a:effectLst>
        </p:spPr>
      </p:sp>
      <p:sp>
        <p:nvSpPr>
          <p:cNvPr id="13" name="Text 10"/>
          <p:cNvSpPr/>
          <p:nvPr/>
        </p:nvSpPr>
        <p:spPr>
          <a:xfrm>
            <a:off x="6629400" y="5038344"/>
            <a:ext cx="4663440" cy="411480"/>
          </a:xfrm>
          <a:prstGeom prst="rect">
            <a:avLst/>
          </a:prstGeom>
          <a:noFill/>
          <a:ln/>
        </p:spPr>
        <p:txBody>
          <a:bodyPr wrap="square" lIns="0" tIns="0" rIns="0" bIns="0" rtlCol="0" anchor="ctr"/>
          <a:lstStyle/>
          <a:p>
            <a:pPr indent="0" marL="0">
              <a:buNone/>
            </a:pPr>
            <a:r>
              <a:rPr lang="en-US" sz="1800" b="1" dirty="0">
                <a:solidFill>
                  <a:srgbClr val="F26A2B"/>
                </a:solidFill>
                <a:latin typeface="Calibri" pitchFamily="34" charset="0"/>
                <a:ea typeface="Calibri" pitchFamily="34" charset="-122"/>
                <a:cs typeface="Calibri" pitchFamily="34" charset="-120"/>
              </a:rPr>
              <a:t>Validation AUC 0.620</a:t>
            </a:r>
            <a:endParaRPr lang="en-US" sz="1800" dirty="0"/>
          </a:p>
        </p:txBody>
      </p:sp>
      <p:sp>
        <p:nvSpPr>
          <p:cNvPr id="14" name="Text 11"/>
          <p:cNvSpPr/>
          <p:nvPr/>
        </p:nvSpPr>
        <p:spPr>
          <a:xfrm>
            <a:off x="6629400" y="5458968"/>
            <a:ext cx="4709160" cy="640080"/>
          </a:xfrm>
          <a:prstGeom prst="rect">
            <a:avLst/>
          </a:prstGeom>
          <a:noFill/>
          <a:ln/>
        </p:spPr>
        <p:txBody>
          <a:bodyPr wrap="square" lIns="0" tIns="0" rIns="0" bIns="0" rtlCol="0" anchor="ctr"/>
          <a:lstStyle/>
          <a:p>
            <a:pPr indent="0" marL="0">
              <a:lnSpc>
                <a:spcPct val="105000"/>
              </a:lnSpc>
              <a:buNone/>
            </a:pPr>
            <a:r>
              <a:rPr lang="en-US" sz="1350" dirty="0">
                <a:solidFill>
                  <a:srgbClr val="C7D0DD"/>
                </a:solidFill>
                <a:latin typeface="Calibri" pitchFamily="34" charset="0"/>
                <a:ea typeface="Calibri" pitchFamily="34" charset="-122"/>
                <a:cs typeface="Calibri" pitchFamily="34" charset="-120"/>
              </a:rPr>
              <a:t>The noisy 2022–23 season pulls this down slightly.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726"/>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lIns="0" tIns="0" rIns="0" bIns="0" rtlCol="0" anchor="ctr"/>
          <a:lstStyle/>
          <a:p>
            <a:pPr algn="l" indent="0" marL="0">
              <a:buNone/>
            </a:pPr>
            <a:r>
              <a:rPr lang="en-US" sz="1300" b="1" spc="300" kern="0" dirty="0">
                <a:solidFill>
                  <a:srgbClr val="F26A2B"/>
                </a:solidFill>
                <a:latin typeface="Calibri" pitchFamily="34" charset="0"/>
                <a:ea typeface="Calibri" pitchFamily="34" charset="-122"/>
                <a:cs typeface="Calibri" pitchFamily="34" charset="-120"/>
              </a:rPr>
              <a:t>10 · WHY 63% IS THE CEILING</a:t>
            </a:r>
            <a:endParaRPr lang="en-US" sz="1300" dirty="0"/>
          </a:p>
        </p:txBody>
      </p:sp>
      <p:sp>
        <p:nvSpPr>
          <p:cNvPr id="3" name="Text 1"/>
          <p:cNvSpPr/>
          <p:nvPr/>
        </p:nvSpPr>
        <p:spPr>
          <a:xfrm>
            <a:off x="640080" y="676656"/>
            <a:ext cx="10881360" cy="868680"/>
          </a:xfrm>
          <a:prstGeom prst="rect">
            <a:avLst/>
          </a:prstGeom>
          <a:noFill/>
          <a:ln/>
        </p:spPr>
        <p:txBody>
          <a:bodyPr wrap="square" lIns="0" tIns="0" rIns="0" bIns="0" rtlCol="0" anchor="ctr"/>
          <a:lstStyle/>
          <a:p>
            <a:pPr algn="l" indent="0" marL="0">
              <a:lnSpc>
                <a:spcPct val="95000"/>
              </a:lnSpc>
              <a:buNone/>
            </a:pPr>
            <a:r>
              <a:rPr lang="en-US" sz="3200" b="1" dirty="0">
                <a:solidFill>
                  <a:srgbClr val="F4F1EA"/>
                </a:solidFill>
                <a:latin typeface="Arial" pitchFamily="34" charset="0"/>
                <a:ea typeface="Arial" pitchFamily="34" charset="-122"/>
                <a:cs typeface="Arial" pitchFamily="34" charset="-120"/>
              </a:rPr>
              <a:t>Three reasons 63% is exactly right</a:t>
            </a:r>
            <a:endParaRPr lang="en-US" sz="3200" dirty="0"/>
          </a:p>
        </p:txBody>
      </p:sp>
      <p:sp>
        <p:nvSpPr>
          <p:cNvPr id="4" name="Shape 2"/>
          <p:cNvSpPr/>
          <p:nvPr/>
        </p:nvSpPr>
        <p:spPr>
          <a:xfrm>
            <a:off x="640080" y="1965960"/>
            <a:ext cx="3502152" cy="4023360"/>
          </a:xfrm>
          <a:prstGeom prst="roundRect">
            <a:avLst>
              <a:gd name="adj" fmla="val 2350"/>
            </a:avLst>
          </a:prstGeom>
          <a:solidFill>
            <a:srgbClr val="13243B"/>
          </a:solidFill>
          <a:ln/>
          <a:effectLst>
            <a:outerShdw sx="100000" sy="100000" kx="0" ky="0" algn="bl" rotWithShape="0" blurRad="114300" dist="38100" dir="5400000">
              <a:srgbClr val="000000">
                <a:alpha val="30000"/>
              </a:srgbClr>
            </a:outerShdw>
          </a:effectLst>
        </p:spPr>
      </p:sp>
      <p:sp>
        <p:nvSpPr>
          <p:cNvPr id="5" name="Text 3"/>
          <p:cNvSpPr/>
          <p:nvPr/>
        </p:nvSpPr>
        <p:spPr>
          <a:xfrm>
            <a:off x="914400" y="2286000"/>
            <a:ext cx="3017520" cy="320040"/>
          </a:xfrm>
          <a:prstGeom prst="rect">
            <a:avLst/>
          </a:prstGeom>
          <a:noFill/>
          <a:ln/>
        </p:spPr>
        <p:txBody>
          <a:bodyPr wrap="square" lIns="0" tIns="0" rIns="0" bIns="0" rtlCol="0" anchor="ctr"/>
          <a:lstStyle/>
          <a:p>
            <a:pPr indent="0" marL="0">
              <a:buNone/>
            </a:pPr>
            <a:r>
              <a:rPr lang="en-US" sz="1300" b="1" spc="200" kern="0" dirty="0">
                <a:solidFill>
                  <a:srgbClr val="F26A2B"/>
                </a:solidFill>
                <a:latin typeface="Calibri" pitchFamily="34" charset="0"/>
                <a:ea typeface="Calibri" pitchFamily="34" charset="-122"/>
                <a:cs typeface="Calibri" pitchFamily="34" charset="-120"/>
              </a:rPr>
              <a:t>THE WALL</a:t>
            </a:r>
            <a:endParaRPr lang="en-US" sz="1300" dirty="0"/>
          </a:p>
        </p:txBody>
      </p:sp>
      <p:sp>
        <p:nvSpPr>
          <p:cNvPr id="6" name="Text 4"/>
          <p:cNvSpPr/>
          <p:nvPr/>
        </p:nvSpPr>
        <p:spPr>
          <a:xfrm>
            <a:off x="914400" y="2697480"/>
            <a:ext cx="2971800" cy="1097280"/>
          </a:xfrm>
          <a:prstGeom prst="rect">
            <a:avLst/>
          </a:prstGeom>
          <a:noFill/>
          <a:ln/>
        </p:spPr>
        <p:txBody>
          <a:bodyPr wrap="square" lIns="0" tIns="0" rIns="0" bIns="0" rtlCol="0" anchor="ctr"/>
          <a:lstStyle/>
          <a:p>
            <a:pPr indent="0" marL="0">
              <a:lnSpc>
                <a:spcPct val="98000"/>
              </a:lnSpc>
              <a:buNone/>
            </a:pPr>
            <a:r>
              <a:rPr lang="en-US" sz="2500" b="1" dirty="0">
                <a:solidFill>
                  <a:srgbClr val="F4F1EA"/>
                </a:solidFill>
                <a:latin typeface="Arial" pitchFamily="34" charset="0"/>
                <a:ea typeface="Arial" pitchFamily="34" charset="-122"/>
                <a:cs typeface="Arial" pitchFamily="34" charset="-120"/>
              </a:rPr>
              <a:t>63% is the real limit</a:t>
            </a:r>
            <a:endParaRPr lang="en-US" sz="2500" dirty="0"/>
          </a:p>
        </p:txBody>
      </p:sp>
      <p:sp>
        <p:nvSpPr>
          <p:cNvPr id="7" name="Text 5"/>
          <p:cNvSpPr/>
          <p:nvPr/>
        </p:nvSpPr>
        <p:spPr>
          <a:xfrm>
            <a:off x="914400" y="3886200"/>
            <a:ext cx="2971800" cy="1920240"/>
          </a:xfrm>
          <a:prstGeom prst="rect">
            <a:avLst/>
          </a:prstGeom>
          <a:noFill/>
          <a:ln/>
        </p:spPr>
        <p:txBody>
          <a:bodyPr wrap="square" lIns="0" tIns="0" rIns="0" bIns="0" rtlCol="0" anchor="ctr"/>
          <a:lstStyle/>
          <a:p>
            <a:pPr indent="0" marL="0">
              <a:lnSpc>
                <a:spcPct val="118000"/>
              </a:lnSpc>
              <a:buNone/>
            </a:pPr>
            <a:r>
              <a:rPr lang="en-US" sz="1450" dirty="0">
                <a:solidFill>
                  <a:srgbClr val="C7D0DD"/>
                </a:solidFill>
                <a:latin typeface="Calibri" pitchFamily="34" charset="0"/>
                <a:ea typeface="Calibri" pitchFamily="34" charset="-122"/>
                <a:cs typeface="Calibri" pitchFamily="34" charset="-120"/>
              </a:rPr>
              <a:t>Bigger, deeper, less-regularized models did not move the number. That's the signal ceiling of the data, not a tuning failure.</a:t>
            </a:r>
            <a:endParaRPr lang="en-US" sz="1450" dirty="0"/>
          </a:p>
        </p:txBody>
      </p:sp>
      <p:sp>
        <p:nvSpPr>
          <p:cNvPr id="8" name="Shape 6"/>
          <p:cNvSpPr/>
          <p:nvPr/>
        </p:nvSpPr>
        <p:spPr>
          <a:xfrm>
            <a:off x="4343400" y="1965960"/>
            <a:ext cx="3502152" cy="4023360"/>
          </a:xfrm>
          <a:prstGeom prst="roundRect">
            <a:avLst>
              <a:gd name="adj" fmla="val 2350"/>
            </a:avLst>
          </a:prstGeom>
          <a:solidFill>
            <a:srgbClr val="13243B"/>
          </a:solidFill>
          <a:ln/>
          <a:effectLst>
            <a:outerShdw sx="100000" sy="100000" kx="0" ky="0" algn="bl" rotWithShape="0" blurRad="114300" dist="38100" dir="5400000">
              <a:srgbClr val="000000">
                <a:alpha val="30000"/>
              </a:srgbClr>
            </a:outerShdw>
          </a:effectLst>
        </p:spPr>
      </p:sp>
      <p:sp>
        <p:nvSpPr>
          <p:cNvPr id="9" name="Text 7"/>
          <p:cNvSpPr/>
          <p:nvPr/>
        </p:nvSpPr>
        <p:spPr>
          <a:xfrm>
            <a:off x="4617720" y="2286000"/>
            <a:ext cx="3017520" cy="320040"/>
          </a:xfrm>
          <a:prstGeom prst="rect">
            <a:avLst/>
          </a:prstGeom>
          <a:noFill/>
          <a:ln/>
        </p:spPr>
        <p:txBody>
          <a:bodyPr wrap="square" lIns="0" tIns="0" rIns="0" bIns="0" rtlCol="0" anchor="ctr"/>
          <a:lstStyle/>
          <a:p>
            <a:pPr indent="0" marL="0">
              <a:buNone/>
            </a:pPr>
            <a:r>
              <a:rPr lang="en-US" sz="1300" b="1" spc="200" kern="0" dirty="0">
                <a:solidFill>
                  <a:srgbClr val="FF5A5A"/>
                </a:solidFill>
                <a:latin typeface="Calibri" pitchFamily="34" charset="0"/>
                <a:ea typeface="Calibri" pitchFamily="34" charset="-122"/>
                <a:cs typeface="Calibri" pitchFamily="34" charset="-120"/>
              </a:rPr>
              <a:t>THE LEAK TEST</a:t>
            </a:r>
            <a:endParaRPr lang="en-US" sz="1300" dirty="0"/>
          </a:p>
        </p:txBody>
      </p:sp>
      <p:sp>
        <p:nvSpPr>
          <p:cNvPr id="10" name="Text 8"/>
          <p:cNvSpPr/>
          <p:nvPr/>
        </p:nvSpPr>
        <p:spPr>
          <a:xfrm>
            <a:off x="4617720" y="2697480"/>
            <a:ext cx="2971800" cy="1097280"/>
          </a:xfrm>
          <a:prstGeom prst="rect">
            <a:avLst/>
          </a:prstGeom>
          <a:noFill/>
          <a:ln/>
        </p:spPr>
        <p:txBody>
          <a:bodyPr wrap="square" lIns="0" tIns="0" rIns="0" bIns="0" rtlCol="0" anchor="ctr"/>
          <a:lstStyle/>
          <a:p>
            <a:pPr indent="0" marL="0">
              <a:lnSpc>
                <a:spcPct val="98000"/>
              </a:lnSpc>
              <a:buNone/>
            </a:pPr>
            <a:r>
              <a:rPr lang="en-US" sz="2500" b="1" dirty="0">
                <a:solidFill>
                  <a:srgbClr val="F4F1EA"/>
                </a:solidFill>
                <a:latin typeface="Arial" pitchFamily="34" charset="0"/>
                <a:ea typeface="Arial" pitchFamily="34" charset="-122"/>
                <a:cs typeface="Arial" pitchFamily="34" charset="-120"/>
              </a:rPr>
              <a:t>A high score is a red flag</a:t>
            </a:r>
            <a:endParaRPr lang="en-US" sz="2500" dirty="0"/>
          </a:p>
        </p:txBody>
      </p:sp>
      <p:sp>
        <p:nvSpPr>
          <p:cNvPr id="11" name="Text 9"/>
          <p:cNvSpPr/>
          <p:nvPr/>
        </p:nvSpPr>
        <p:spPr>
          <a:xfrm>
            <a:off x="4617720" y="3886200"/>
            <a:ext cx="2971800" cy="1920240"/>
          </a:xfrm>
          <a:prstGeom prst="rect">
            <a:avLst/>
          </a:prstGeom>
          <a:noFill/>
          <a:ln/>
        </p:spPr>
        <p:txBody>
          <a:bodyPr wrap="square" lIns="0" tIns="0" rIns="0" bIns="0" rtlCol="0" anchor="ctr"/>
          <a:lstStyle/>
          <a:p>
            <a:pPr indent="0" marL="0">
              <a:lnSpc>
                <a:spcPct val="118000"/>
              </a:lnSpc>
              <a:buNone/>
            </a:pPr>
            <a:r>
              <a:rPr lang="en-US" sz="1450" dirty="0">
                <a:solidFill>
                  <a:srgbClr val="C7D0DD"/>
                </a:solidFill>
                <a:latin typeface="Calibri" pitchFamily="34" charset="0"/>
                <a:ea typeface="Calibri" pitchFamily="34" charset="-122"/>
                <a:cs typeface="Calibri" pitchFamily="34" charset="-120"/>
              </a:rPr>
              <a:t>If this returned 90%, the right response is suspicion. Honest features cap out near the market — anything above means leakage.</a:t>
            </a:r>
            <a:endParaRPr lang="en-US" sz="1450" dirty="0"/>
          </a:p>
        </p:txBody>
      </p:sp>
      <p:sp>
        <p:nvSpPr>
          <p:cNvPr id="12" name="Shape 10"/>
          <p:cNvSpPr/>
          <p:nvPr/>
        </p:nvSpPr>
        <p:spPr>
          <a:xfrm>
            <a:off x="8046720" y="1965960"/>
            <a:ext cx="3502152" cy="4023360"/>
          </a:xfrm>
          <a:prstGeom prst="roundRect">
            <a:avLst>
              <a:gd name="adj" fmla="val 2350"/>
            </a:avLst>
          </a:prstGeom>
          <a:solidFill>
            <a:srgbClr val="13243B"/>
          </a:solidFill>
          <a:ln/>
          <a:effectLst>
            <a:outerShdw sx="100000" sy="100000" kx="0" ky="0" algn="bl" rotWithShape="0" blurRad="114300" dist="38100" dir="5400000">
              <a:srgbClr val="000000">
                <a:alpha val="30000"/>
              </a:srgbClr>
            </a:outerShdw>
          </a:effectLst>
        </p:spPr>
      </p:sp>
      <p:sp>
        <p:nvSpPr>
          <p:cNvPr id="13" name="Text 11"/>
          <p:cNvSpPr/>
          <p:nvPr/>
        </p:nvSpPr>
        <p:spPr>
          <a:xfrm>
            <a:off x="8321040" y="2286000"/>
            <a:ext cx="3017520" cy="320040"/>
          </a:xfrm>
          <a:prstGeom prst="rect">
            <a:avLst/>
          </a:prstGeom>
          <a:noFill/>
          <a:ln/>
        </p:spPr>
        <p:txBody>
          <a:bodyPr wrap="square" lIns="0" tIns="0" rIns="0" bIns="0" rtlCol="0" anchor="ctr"/>
          <a:lstStyle/>
          <a:p>
            <a:pPr indent="0" marL="0">
              <a:buNone/>
            </a:pPr>
            <a:r>
              <a:rPr lang="en-US" sz="1300" b="1" spc="200" kern="0" dirty="0">
                <a:solidFill>
                  <a:srgbClr val="37C2A4"/>
                </a:solidFill>
                <a:latin typeface="Calibri" pitchFamily="34" charset="0"/>
                <a:ea typeface="Calibri" pitchFamily="34" charset="-122"/>
                <a:cs typeface="Calibri" pitchFamily="34" charset="-120"/>
              </a:rPr>
              <a:t>THE FIT</a:t>
            </a:r>
            <a:endParaRPr lang="en-US" sz="1300" dirty="0"/>
          </a:p>
        </p:txBody>
      </p:sp>
      <p:sp>
        <p:nvSpPr>
          <p:cNvPr id="14" name="Text 12"/>
          <p:cNvSpPr/>
          <p:nvPr/>
        </p:nvSpPr>
        <p:spPr>
          <a:xfrm>
            <a:off x="8321040" y="2697480"/>
            <a:ext cx="2971800" cy="1097280"/>
          </a:xfrm>
          <a:prstGeom prst="rect">
            <a:avLst/>
          </a:prstGeom>
          <a:noFill/>
          <a:ln/>
        </p:spPr>
        <p:txBody>
          <a:bodyPr wrap="square" lIns="0" tIns="0" rIns="0" bIns="0" rtlCol="0" anchor="ctr"/>
          <a:lstStyle/>
          <a:p>
            <a:pPr indent="0" marL="0">
              <a:lnSpc>
                <a:spcPct val="98000"/>
              </a:lnSpc>
              <a:buNone/>
            </a:pPr>
            <a:r>
              <a:rPr lang="en-US" sz="2500" b="1" dirty="0">
                <a:solidFill>
                  <a:srgbClr val="F4F1EA"/>
                </a:solidFill>
                <a:latin typeface="Arial" pitchFamily="34" charset="0"/>
                <a:ea typeface="Arial" pitchFamily="34" charset="-122"/>
                <a:cs typeface="Arial" pitchFamily="34" charset="-120"/>
              </a:rPr>
              <a:t>Train ≈ Test</a:t>
            </a:r>
            <a:endParaRPr lang="en-US" sz="2500" dirty="0"/>
          </a:p>
        </p:txBody>
      </p:sp>
      <p:sp>
        <p:nvSpPr>
          <p:cNvPr id="15" name="Text 13"/>
          <p:cNvSpPr/>
          <p:nvPr/>
        </p:nvSpPr>
        <p:spPr>
          <a:xfrm>
            <a:off x="8321040" y="3886200"/>
            <a:ext cx="2971800" cy="1920240"/>
          </a:xfrm>
          <a:prstGeom prst="rect">
            <a:avLst/>
          </a:prstGeom>
          <a:noFill/>
          <a:ln/>
        </p:spPr>
        <p:txBody>
          <a:bodyPr wrap="square" lIns="0" tIns="0" rIns="0" bIns="0" rtlCol="0" anchor="ctr"/>
          <a:lstStyle/>
          <a:p>
            <a:pPr indent="0" marL="0">
              <a:lnSpc>
                <a:spcPct val="118000"/>
              </a:lnSpc>
              <a:buNone/>
            </a:pPr>
            <a:r>
              <a:rPr lang="en-US" sz="1450" dirty="0">
                <a:solidFill>
                  <a:srgbClr val="C7D0DD"/>
                </a:solidFill>
                <a:latin typeface="Calibri" pitchFamily="34" charset="0"/>
                <a:ea typeface="Calibri" pitchFamily="34" charset="-122"/>
                <a:cs typeface="Calibri" pitchFamily="34" charset="-120"/>
              </a:rPr>
              <a:t>62.8% train vs 62.9% test, within a tenth of a point. The model generalizes; dropout and weight decay keep it honest.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726"/>
        </a:solidFill>
      </p:bgPr>
    </p:bg>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ln w="25400">
            <a:solidFill>
              <a:srgbClr val="23405F"/>
            </a:solidFill>
            <a:prstDash val="solid"/>
          </a:ln>
        </p:spPr>
      </p:sp>
      <p:sp>
        <p:nvSpPr>
          <p:cNvPr id="3" name="Shape 1"/>
          <p:cNvSpPr/>
          <p:nvPr/>
        </p:nvSpPr>
        <p:spPr>
          <a:xfrm>
            <a:off x="10607040" y="4480560"/>
            <a:ext cx="3108960" cy="3108960"/>
          </a:xfrm>
          <a:prstGeom prst="ellipse">
            <a:avLst/>
          </a:prstGeom>
          <a:ln w="25400">
            <a:solidFill>
              <a:srgbClr val="1C3350"/>
            </a:solidFill>
            <a:prstDash val="solid"/>
          </a:ln>
        </p:spPr>
      </p:sp>
      <p:sp>
        <p:nvSpPr>
          <p:cNvPr id="4" name="Text 2"/>
          <p:cNvSpPr/>
          <p:nvPr/>
        </p:nvSpPr>
        <p:spPr>
          <a:xfrm>
            <a:off x="731520" y="914400"/>
            <a:ext cx="10058400" cy="365760"/>
          </a:xfrm>
          <a:prstGeom prst="rect">
            <a:avLst/>
          </a:prstGeom>
          <a:noFill/>
          <a:ln/>
        </p:spPr>
        <p:txBody>
          <a:bodyPr wrap="square" lIns="0" tIns="0" rIns="0" bIns="0" rtlCol="0" anchor="ctr"/>
          <a:lstStyle/>
          <a:p>
            <a:pPr indent="0" marL="0">
              <a:buNone/>
            </a:pPr>
            <a:r>
              <a:rPr lang="en-US" sz="1500" b="1" spc="300" kern="0" dirty="0">
                <a:solidFill>
                  <a:srgbClr val="F26A2B"/>
                </a:solidFill>
                <a:latin typeface="Calibri" pitchFamily="34" charset="0"/>
                <a:ea typeface="Calibri" pitchFamily="34" charset="-122"/>
                <a:cs typeface="Calibri" pitchFamily="34" charset="-120"/>
              </a:rPr>
              <a:t>THE ANSWER</a:t>
            </a:r>
            <a:endParaRPr lang="en-US" sz="1500" dirty="0"/>
          </a:p>
        </p:txBody>
      </p:sp>
      <p:sp>
        <p:nvSpPr>
          <p:cNvPr id="5" name="Text 3"/>
          <p:cNvSpPr/>
          <p:nvPr/>
        </p:nvSpPr>
        <p:spPr>
          <a:xfrm>
            <a:off x="713232" y="1371600"/>
            <a:ext cx="10698480" cy="1371600"/>
          </a:xfrm>
          <a:prstGeom prst="rect">
            <a:avLst/>
          </a:prstGeom>
          <a:noFill/>
          <a:ln/>
        </p:spPr>
        <p:txBody>
          <a:bodyPr wrap="square" lIns="0" tIns="0" rIns="0" bIns="0" rtlCol="0" anchor="ctr"/>
          <a:lstStyle/>
          <a:p>
            <a:pPr indent="0" marL="0">
              <a:lnSpc>
                <a:spcPct val="98000"/>
              </a:lnSpc>
              <a:buNone/>
            </a:pPr>
            <a:r>
              <a:rPr lang="en-US" sz="4600" b="1" dirty="0">
                <a:solidFill>
                  <a:srgbClr val="37C2A4"/>
                </a:solidFill>
                <a:latin typeface="Arial" pitchFamily="34" charset="0"/>
                <a:ea typeface="Arial" pitchFamily="34" charset="-122"/>
                <a:cs typeface="Arial" pitchFamily="34" charset="-120"/>
              </a:rPr>
              <a:t>Yes — </a:t>
            </a:r>
            <a:pPr indent="0" marL="0">
              <a:lnSpc>
                <a:spcPct val="98000"/>
              </a:lnSpc>
              <a:buNone/>
            </a:pPr>
            <a:r>
              <a:rPr lang="en-US" sz="4600" b="1" dirty="0">
                <a:solidFill>
                  <a:srgbClr val="F4F1EA"/>
                </a:solidFill>
                <a:latin typeface="Arial" pitchFamily="34" charset="0"/>
                <a:ea typeface="Arial" pitchFamily="34" charset="-122"/>
                <a:cs typeface="Arial" pitchFamily="34" charset="-120"/>
              </a:rPr>
              <a:t>a model can hang with Vegas.</a:t>
            </a:r>
            <a:endParaRPr lang="en-US" sz="4600" dirty="0"/>
          </a:p>
        </p:txBody>
      </p:sp>
      <p:sp>
        <p:nvSpPr>
          <p:cNvPr id="6" name="Text 4"/>
          <p:cNvSpPr/>
          <p:nvPr/>
        </p:nvSpPr>
        <p:spPr>
          <a:xfrm>
            <a:off x="731520" y="2834640"/>
            <a:ext cx="7680960" cy="1463040"/>
          </a:xfrm>
          <a:prstGeom prst="rect">
            <a:avLst/>
          </a:prstGeom>
          <a:noFill/>
          <a:ln/>
        </p:spPr>
        <p:txBody>
          <a:bodyPr wrap="square" lIns="0" tIns="0" rIns="0" bIns="0" rtlCol="0" anchor="ctr"/>
          <a:lstStyle/>
          <a:p>
            <a:pPr indent="0" marL="0">
              <a:lnSpc>
                <a:spcPct val="115000"/>
              </a:lnSpc>
              <a:buNone/>
            </a:pPr>
            <a:r>
              <a:rPr lang="en-US" sz="1800" dirty="0">
                <a:solidFill>
                  <a:srgbClr val="C7D0DD"/>
                </a:solidFill>
                <a:latin typeface="Calibri" pitchFamily="34" charset="0"/>
                <a:ea typeface="Calibri" pitchFamily="34" charset="-122"/>
                <a:cs typeface="Calibri" pitchFamily="34" charset="-120"/>
              </a:rPr>
              <a:t>A leakage-free Wide &amp; Deep network reaches 62.9% on unseen seasons — a few points under the ~67% market line, with the gap fully explained by the injury and lineup information Vegas prices in and the model deliberately omits.</a:t>
            </a:r>
            <a:endParaRPr lang="en-US" sz="1800" dirty="0"/>
          </a:p>
        </p:txBody>
      </p:sp>
      <p:sp>
        <p:nvSpPr>
          <p:cNvPr id="7" name="Text 5"/>
          <p:cNvSpPr/>
          <p:nvPr/>
        </p:nvSpPr>
        <p:spPr>
          <a:xfrm>
            <a:off x="731520" y="4526280"/>
            <a:ext cx="320040" cy="457200"/>
          </a:xfrm>
          <a:prstGeom prst="rect">
            <a:avLst/>
          </a:prstGeom>
          <a:noFill/>
          <a:ln/>
        </p:spPr>
        <p:txBody>
          <a:bodyPr wrap="square" lIns="0" tIns="0" rIns="0" bIns="0" rtlCol="0" anchor="ctr"/>
          <a:lstStyle/>
          <a:p>
            <a:pPr indent="0" marL="0">
              <a:buNone/>
            </a:pPr>
            <a:r>
              <a:rPr lang="en-US" sz="2200" b="1" dirty="0">
                <a:solidFill>
                  <a:srgbClr val="F26A2B"/>
                </a:solidFill>
                <a:latin typeface="Arial" pitchFamily="34" charset="0"/>
                <a:ea typeface="Arial" pitchFamily="34" charset="-122"/>
                <a:cs typeface="Arial" pitchFamily="34" charset="-120"/>
              </a:rPr>
              <a:t>›</a:t>
            </a:r>
            <a:endParaRPr lang="en-US" sz="2200" dirty="0"/>
          </a:p>
        </p:txBody>
      </p:sp>
      <p:sp>
        <p:nvSpPr>
          <p:cNvPr id="8" name="Text 6"/>
          <p:cNvSpPr/>
          <p:nvPr/>
        </p:nvSpPr>
        <p:spPr>
          <a:xfrm>
            <a:off x="1097280" y="4526280"/>
            <a:ext cx="10241280" cy="502920"/>
          </a:xfrm>
          <a:prstGeom prst="rect">
            <a:avLst/>
          </a:prstGeom>
          <a:noFill/>
          <a:ln/>
        </p:spPr>
        <p:txBody>
          <a:bodyPr wrap="square" lIns="0" tIns="0" rIns="0" bIns="0" rtlCol="0" anchor="ctr"/>
          <a:lstStyle/>
          <a:p>
            <a:pPr indent="0" marL="0">
              <a:buNone/>
            </a:pPr>
            <a:r>
              <a:rPr lang="en-US" sz="1550" b="1" dirty="0">
                <a:solidFill>
                  <a:srgbClr val="F4F1EA"/>
                </a:solidFill>
                <a:latin typeface="Calibri" pitchFamily="34" charset="0"/>
                <a:ea typeface="Calibri" pitchFamily="34" charset="-122"/>
                <a:cs typeface="Calibri" pitchFamily="34" charset="-120"/>
              </a:rPr>
              <a:t>Real contribution   </a:t>
            </a:r>
            <a:pPr indent="0" marL="0">
              <a:buNone/>
            </a:pPr>
            <a:r>
              <a:rPr lang="en-US" sz="1550" dirty="0">
                <a:solidFill>
                  <a:srgbClr val="93A1B6"/>
                </a:solidFill>
                <a:latin typeface="Calibri" pitchFamily="34" charset="0"/>
                <a:ea typeface="Calibri" pitchFamily="34" charset="-122"/>
                <a:cs typeface="Calibri" pitchFamily="34" charset="-120"/>
              </a:rPr>
              <a:t>Diagnosing and removing temporal leakage — not chasing a vanity number.</a:t>
            </a:r>
            <a:endParaRPr lang="en-US" sz="1550" dirty="0"/>
          </a:p>
        </p:txBody>
      </p:sp>
      <p:sp>
        <p:nvSpPr>
          <p:cNvPr id="9" name="Text 7"/>
          <p:cNvSpPr/>
          <p:nvPr/>
        </p:nvSpPr>
        <p:spPr>
          <a:xfrm>
            <a:off x="731520" y="5093208"/>
            <a:ext cx="320040" cy="457200"/>
          </a:xfrm>
          <a:prstGeom prst="rect">
            <a:avLst/>
          </a:prstGeom>
          <a:noFill/>
          <a:ln/>
        </p:spPr>
        <p:txBody>
          <a:bodyPr wrap="square" lIns="0" tIns="0" rIns="0" bIns="0" rtlCol="0" anchor="ctr"/>
          <a:lstStyle/>
          <a:p>
            <a:pPr indent="0" marL="0">
              <a:buNone/>
            </a:pPr>
            <a:r>
              <a:rPr lang="en-US" sz="2200" b="1" dirty="0">
                <a:solidFill>
                  <a:srgbClr val="F26A2B"/>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1097280" y="5093208"/>
            <a:ext cx="10241280" cy="502920"/>
          </a:xfrm>
          <a:prstGeom prst="rect">
            <a:avLst/>
          </a:prstGeom>
          <a:noFill/>
          <a:ln/>
        </p:spPr>
        <p:txBody>
          <a:bodyPr wrap="square" lIns="0" tIns="0" rIns="0" bIns="0" rtlCol="0" anchor="ctr"/>
          <a:lstStyle/>
          <a:p>
            <a:pPr indent="0" marL="0">
              <a:buNone/>
            </a:pPr>
            <a:r>
              <a:rPr lang="en-US" sz="1550" b="1" dirty="0">
                <a:solidFill>
                  <a:srgbClr val="F4F1EA"/>
                </a:solidFill>
                <a:latin typeface="Calibri" pitchFamily="34" charset="0"/>
                <a:ea typeface="Calibri" pitchFamily="34" charset="-122"/>
                <a:cs typeface="Calibri" pitchFamily="34" charset="-120"/>
              </a:rPr>
              <a:t>Honest by design   </a:t>
            </a:r>
            <a:pPr indent="0" marL="0">
              <a:buNone/>
            </a:pPr>
            <a:r>
              <a:rPr lang="en-US" sz="1550" dirty="0">
                <a:solidFill>
                  <a:srgbClr val="93A1B6"/>
                </a:solidFill>
                <a:latin typeface="Calibri" pitchFamily="34" charset="0"/>
                <a:ea typeface="Calibri" pitchFamily="34" charset="-122"/>
                <a:cs typeface="Calibri" pitchFamily="34" charset="-120"/>
              </a:rPr>
              <a:t>62.9% that survives deployment beats a brittle 90% that collapses.</a:t>
            </a:r>
            <a:endParaRPr lang="en-US" sz="1550" dirty="0"/>
          </a:p>
        </p:txBody>
      </p:sp>
      <p:sp>
        <p:nvSpPr>
          <p:cNvPr id="11" name="Text 9"/>
          <p:cNvSpPr/>
          <p:nvPr/>
        </p:nvSpPr>
        <p:spPr>
          <a:xfrm>
            <a:off x="731520" y="5660136"/>
            <a:ext cx="320040" cy="457200"/>
          </a:xfrm>
          <a:prstGeom prst="rect">
            <a:avLst/>
          </a:prstGeom>
          <a:noFill/>
          <a:ln/>
        </p:spPr>
        <p:txBody>
          <a:bodyPr wrap="square" lIns="0" tIns="0" rIns="0" bIns="0" rtlCol="0" anchor="ctr"/>
          <a:lstStyle/>
          <a:p>
            <a:pPr indent="0" marL="0">
              <a:buNone/>
            </a:pPr>
            <a:r>
              <a:rPr lang="en-US" sz="2200" b="1" dirty="0">
                <a:solidFill>
                  <a:srgbClr val="F26A2B"/>
                </a:solidFill>
                <a:latin typeface="Arial" pitchFamily="34" charset="0"/>
                <a:ea typeface="Arial" pitchFamily="34" charset="-122"/>
                <a:cs typeface="Arial" pitchFamily="34" charset="-120"/>
              </a:rPr>
              <a:t>›</a:t>
            </a:r>
            <a:endParaRPr lang="en-US" sz="2200" dirty="0"/>
          </a:p>
        </p:txBody>
      </p:sp>
      <p:sp>
        <p:nvSpPr>
          <p:cNvPr id="12" name="Text 10"/>
          <p:cNvSpPr/>
          <p:nvPr/>
        </p:nvSpPr>
        <p:spPr>
          <a:xfrm>
            <a:off x="1097280" y="5660136"/>
            <a:ext cx="10241280" cy="502920"/>
          </a:xfrm>
          <a:prstGeom prst="rect">
            <a:avLst/>
          </a:prstGeom>
          <a:noFill/>
          <a:ln/>
        </p:spPr>
        <p:txBody>
          <a:bodyPr wrap="square" lIns="0" tIns="0" rIns="0" bIns="0" rtlCol="0" anchor="ctr"/>
          <a:lstStyle/>
          <a:p>
            <a:pPr indent="0" marL="0">
              <a:buNone/>
            </a:pPr>
            <a:r>
              <a:rPr lang="en-US" sz="1550" b="1" dirty="0">
                <a:solidFill>
                  <a:srgbClr val="F4F1EA"/>
                </a:solidFill>
                <a:latin typeface="Calibri" pitchFamily="34" charset="0"/>
                <a:ea typeface="Calibri" pitchFamily="34" charset="-122"/>
                <a:cs typeface="Calibri" pitchFamily="34" charset="-120"/>
              </a:rPr>
              <a:t>Next   </a:t>
            </a:r>
            <a:pPr indent="0" marL="0">
              <a:buNone/>
            </a:pPr>
            <a:r>
              <a:rPr lang="en-US" sz="1550" dirty="0">
                <a:solidFill>
                  <a:srgbClr val="93A1B6"/>
                </a:solidFill>
                <a:latin typeface="Calibri" pitchFamily="34" charset="0"/>
                <a:ea typeface="Calibri" pitchFamily="34" charset="-122"/>
                <a:cs typeface="Calibri" pitchFamily="34" charset="-120"/>
              </a:rPr>
              <a:t>Sequence models, injury &amp; lineup data, and calibration against closing lines.</a:t>
            </a:r>
            <a:endParaRPr lang="en-US" sz="1550" dirty="0"/>
          </a:p>
        </p:txBody>
      </p:sp>
      <p:sp>
        <p:nvSpPr>
          <p:cNvPr id="13" name="Text 11"/>
          <p:cNvSpPr/>
          <p:nvPr/>
        </p:nvSpPr>
        <p:spPr>
          <a:xfrm>
            <a:off x="731520" y="6400800"/>
            <a:ext cx="10698480" cy="320040"/>
          </a:xfrm>
          <a:prstGeom prst="rect">
            <a:avLst/>
          </a:prstGeom>
          <a:noFill/>
          <a:ln/>
        </p:spPr>
        <p:txBody>
          <a:bodyPr wrap="square" lIns="0" tIns="0" rIns="0" bIns="0" rtlCol="0" anchor="ctr"/>
          <a:lstStyle/>
          <a:p>
            <a:pPr indent="0" marL="0">
              <a:buNone/>
            </a:pPr>
            <a:r>
              <a:rPr lang="en-US" sz="1200" dirty="0">
                <a:solidFill>
                  <a:srgbClr val="93A1B6"/>
                </a:solidFill>
                <a:latin typeface="Calibri" pitchFamily="34" charset="0"/>
                <a:ea typeface="Calibri" pitchFamily="34" charset="-122"/>
                <a:cs typeface="Calibri" pitchFamily="34" charset="-120"/>
              </a:rPr>
              <a:t>Court Vision · Eron Pano · MS Data Science, Regis University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 Model Rival the Las Vegas Line?</dc:title>
  <dc:subject>PptxGenJS Presentation</dc:subject>
  <dc:creator>Eron Pano</dc:creator>
  <cp:lastModifiedBy>Eron Pano</cp:lastModifiedBy>
  <cp:revision>1</cp:revision>
  <dcterms:created xsi:type="dcterms:W3CDTF">2026-06-23T20:01:44Z</dcterms:created>
  <dcterms:modified xsi:type="dcterms:W3CDTF">2026-06-23T20:01:44Z</dcterms:modified>
</cp:coreProperties>
</file>